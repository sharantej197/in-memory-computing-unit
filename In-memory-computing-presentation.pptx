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rompt Medium" charset="1" panose="00000600000000000000"/>
      <p:regular r:id="rId14"/>
    </p:embeddedFont>
    <p:embeddedFont>
      <p:font typeface="Mukta Light" charset="1" panose="020B0000000000000000"/>
      <p:regular r:id="rId15"/>
    </p:embeddedFont>
    <p:embeddedFont>
      <p:font typeface="Mukta Bold" charset="1" panose="020B0000000000000000"/>
      <p:regular r:id="rId16"/>
    </p:embeddedFont>
    <p:embeddedFont>
      <p:font typeface="Prompt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svg" Type="http://schemas.openxmlformats.org/officeDocument/2006/relationships/image"/><Relationship Id="rId2" Target="../media/image1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18.png" Type="http://schemas.openxmlformats.org/officeDocument/2006/relationships/image"/><Relationship Id="rId8" Target="../media/image19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svg" Type="http://schemas.openxmlformats.org/officeDocument/2006/relationships/image"/><Relationship Id="rId2" Target="../media/image1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svg" Type="http://schemas.openxmlformats.org/officeDocument/2006/relationships/image"/><Relationship Id="rId9" Target="../media/image3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938049" y="2458488"/>
            <a:ext cx="9269911" cy="34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In-Memory Computing Accelerator for Energy-Efficient Matrix Computation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38049" y="6283671"/>
            <a:ext cx="9269911" cy="589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Breaking the Von Neumann Bottleneck with In-Memory Computing.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938049" y="7219798"/>
            <a:ext cx="2726684" cy="580130"/>
            <a:chOff x="0" y="0"/>
            <a:chExt cx="3635578" cy="77350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35629" cy="773557"/>
            </a:xfrm>
            <a:custGeom>
              <a:avLst/>
              <a:gdLst/>
              <a:ahLst/>
              <a:cxnLst/>
              <a:rect r="r" b="b" t="t" l="l"/>
              <a:pathLst>
                <a:path h="773557" w="3635629">
                  <a:moveTo>
                    <a:pt x="0" y="138303"/>
                  </a:moveTo>
                  <a:cubicBezTo>
                    <a:pt x="0" y="61849"/>
                    <a:pt x="61849" y="0"/>
                    <a:pt x="138303" y="0"/>
                  </a:cubicBezTo>
                  <a:lnTo>
                    <a:pt x="3497326" y="0"/>
                  </a:lnTo>
                  <a:cubicBezTo>
                    <a:pt x="3573653" y="0"/>
                    <a:pt x="3635629" y="61849"/>
                    <a:pt x="3635629" y="138303"/>
                  </a:cubicBezTo>
                  <a:lnTo>
                    <a:pt x="3635629" y="635254"/>
                  </a:lnTo>
                  <a:cubicBezTo>
                    <a:pt x="3635629" y="711581"/>
                    <a:pt x="3573780" y="773557"/>
                    <a:pt x="3497326" y="773557"/>
                  </a:cubicBezTo>
                  <a:lnTo>
                    <a:pt x="138303" y="773557"/>
                  </a:lnTo>
                  <a:cubicBezTo>
                    <a:pt x="61849" y="773557"/>
                    <a:pt x="0" y="711581"/>
                    <a:pt x="0" y="635254"/>
                  </a:cubicBezTo>
                  <a:close/>
                </a:path>
              </a:pathLst>
            </a:custGeom>
            <a:solidFill>
              <a:srgbClr val="321A2C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8123187" y="7245696"/>
            <a:ext cx="2356399" cy="4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TEAM-CHAGGAN BYTES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45941" y="778373"/>
            <a:ext cx="732530" cy="278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437">
                <a:solidFill>
                  <a:srgbClr val="A95B95"/>
                </a:solidFill>
                <a:latin typeface="Mukta Light"/>
                <a:ea typeface="Mukta Light"/>
                <a:cs typeface="Mukta Light"/>
                <a:sym typeface="Mukta Light"/>
              </a:rPr>
              <a:t>PROBLEM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45941" y="1166660"/>
            <a:ext cx="8756894" cy="671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4000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The Core Problem: Data Movement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932509" y="2293734"/>
            <a:ext cx="7256412" cy="6395590"/>
            <a:chOff x="0" y="0"/>
            <a:chExt cx="9675216" cy="8527453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675241" cy="8527415"/>
            </a:xfrm>
            <a:custGeom>
              <a:avLst/>
              <a:gdLst/>
              <a:ahLst/>
              <a:cxnLst/>
              <a:rect r="r" b="b" t="t" l="l"/>
              <a:pathLst>
                <a:path h="8527415" w="9675241">
                  <a:moveTo>
                    <a:pt x="0" y="0"/>
                  </a:moveTo>
                  <a:lnTo>
                    <a:pt x="9675241" y="0"/>
                  </a:lnTo>
                  <a:lnTo>
                    <a:pt x="9675241" y="8527415"/>
                  </a:lnTo>
                  <a:lnTo>
                    <a:pt x="0" y="85274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5" t="0" r="-44" b="0"/>
              </a:stretch>
            </a:blipFill>
          </p:spPr>
        </p:sp>
      </p:grpSp>
      <p:sp>
        <p:nvSpPr>
          <p:cNvPr name="Freeform 10" id="10" descr="preencoded.png"/>
          <p:cNvSpPr/>
          <p:nvPr/>
        </p:nvSpPr>
        <p:spPr>
          <a:xfrm flipH="false" flipV="false" rot="0">
            <a:off x="4366946" y="5576888"/>
            <a:ext cx="344272" cy="344272"/>
          </a:xfrm>
          <a:custGeom>
            <a:avLst/>
            <a:gdLst/>
            <a:ahLst/>
            <a:cxnLst/>
            <a:rect r="r" b="b" t="t" l="l"/>
            <a:pathLst>
              <a:path h="344272" w="344272">
                <a:moveTo>
                  <a:pt x="0" y="0"/>
                </a:moveTo>
                <a:lnTo>
                  <a:pt x="344271" y="0"/>
                </a:lnTo>
                <a:lnTo>
                  <a:pt x="344271" y="344271"/>
                </a:lnTo>
                <a:lnTo>
                  <a:pt x="0" y="3442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5675" t="0" r="-25675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358886" y="7105812"/>
            <a:ext cx="2295125" cy="296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750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Memory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123638" y="7513082"/>
            <a:ext cx="2765622" cy="20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"/>
              </a:lnSpc>
            </a:pPr>
            <a:r>
              <a:rPr lang="en-US" sz="16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Stores data for processing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6421079" y="5083435"/>
            <a:ext cx="344272" cy="344272"/>
          </a:xfrm>
          <a:custGeom>
            <a:avLst/>
            <a:gdLst/>
            <a:ahLst/>
            <a:cxnLst/>
            <a:rect r="r" b="b" t="t" l="l"/>
            <a:pathLst>
              <a:path h="344272" w="344272">
                <a:moveTo>
                  <a:pt x="0" y="0"/>
                </a:moveTo>
                <a:lnTo>
                  <a:pt x="344271" y="0"/>
                </a:lnTo>
                <a:lnTo>
                  <a:pt x="344271" y="344272"/>
                </a:lnTo>
                <a:lnTo>
                  <a:pt x="0" y="3442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756" t="0" r="-6756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435975" y="3253407"/>
            <a:ext cx="2295125" cy="296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750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Processor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00717" y="3660677"/>
            <a:ext cx="2765622" cy="20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"/>
              </a:lnSpc>
            </a:pPr>
            <a:r>
              <a:rPr lang="en-US" sz="16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Executes computations on data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8475212" y="5576888"/>
            <a:ext cx="344272" cy="344272"/>
          </a:xfrm>
          <a:custGeom>
            <a:avLst/>
            <a:gdLst/>
            <a:ahLst/>
            <a:cxnLst/>
            <a:rect r="r" b="b" t="t" l="l"/>
            <a:pathLst>
              <a:path h="344272" w="344272">
                <a:moveTo>
                  <a:pt x="0" y="0"/>
                </a:moveTo>
                <a:lnTo>
                  <a:pt x="344271" y="0"/>
                </a:lnTo>
                <a:lnTo>
                  <a:pt x="344271" y="344271"/>
                </a:lnTo>
                <a:lnTo>
                  <a:pt x="0" y="3442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25675" t="0" r="-25675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467152" y="7105812"/>
            <a:ext cx="2295125" cy="296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9"/>
              </a:lnSpc>
            </a:pPr>
            <a:r>
              <a:rPr lang="en-US" sz="1750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Memory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31904" y="7513082"/>
            <a:ext cx="2765622" cy="206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50"/>
              </a:lnSpc>
            </a:pPr>
            <a:r>
              <a:rPr lang="en-US" sz="162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Returns results and state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45941" y="8865546"/>
            <a:ext cx="9029700" cy="537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43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Current architectures suffer from the </a:t>
            </a:r>
            <a:r>
              <a:rPr lang="en-US" sz="1437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Von Neumann Bottleneck</a:t>
            </a:r>
            <a:r>
              <a:rPr lang="en-US" sz="143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. Fetching weights from DRAM consumes 100x more energy than the computation itself.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1645055" y="3670544"/>
            <a:ext cx="4610995" cy="2083594"/>
            <a:chOff x="0" y="0"/>
            <a:chExt cx="6147994" cy="27781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6135243" cy="2765425"/>
            </a:xfrm>
            <a:custGeom>
              <a:avLst/>
              <a:gdLst/>
              <a:ahLst/>
              <a:cxnLst/>
              <a:rect r="r" b="b" t="t" l="l"/>
              <a:pathLst>
                <a:path h="2765425" w="6135243">
                  <a:moveTo>
                    <a:pt x="0" y="129667"/>
                  </a:moveTo>
                  <a:cubicBezTo>
                    <a:pt x="0" y="58039"/>
                    <a:pt x="58166" y="0"/>
                    <a:pt x="129921" y="0"/>
                  </a:cubicBezTo>
                  <a:lnTo>
                    <a:pt x="6005322" y="0"/>
                  </a:lnTo>
                  <a:cubicBezTo>
                    <a:pt x="6077077" y="0"/>
                    <a:pt x="6135243" y="58039"/>
                    <a:pt x="6135243" y="129667"/>
                  </a:cubicBezTo>
                  <a:lnTo>
                    <a:pt x="6135243" y="2635758"/>
                  </a:lnTo>
                  <a:cubicBezTo>
                    <a:pt x="6135243" y="2707386"/>
                    <a:pt x="6077077" y="2765425"/>
                    <a:pt x="6005322" y="2765425"/>
                  </a:cubicBezTo>
                  <a:lnTo>
                    <a:pt x="129921" y="2765425"/>
                  </a:lnTo>
                  <a:cubicBezTo>
                    <a:pt x="58166" y="2765425"/>
                    <a:pt x="0" y="2707386"/>
                    <a:pt x="0" y="2635758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147943" cy="2778125"/>
            </a:xfrm>
            <a:custGeom>
              <a:avLst/>
              <a:gdLst/>
              <a:ahLst/>
              <a:cxnLst/>
              <a:rect r="r" b="b" t="t" l="l"/>
              <a:pathLst>
                <a:path h="2778125" w="6147943">
                  <a:moveTo>
                    <a:pt x="0" y="136017"/>
                  </a:moveTo>
                  <a:cubicBezTo>
                    <a:pt x="0" y="60833"/>
                    <a:pt x="61087" y="0"/>
                    <a:pt x="136271" y="0"/>
                  </a:cubicBezTo>
                  <a:lnTo>
                    <a:pt x="6011672" y="0"/>
                  </a:lnTo>
                  <a:lnTo>
                    <a:pt x="6011672" y="6350"/>
                  </a:lnTo>
                  <a:lnTo>
                    <a:pt x="6011672" y="0"/>
                  </a:lnTo>
                  <a:cubicBezTo>
                    <a:pt x="6086983" y="0"/>
                    <a:pt x="6147943" y="60833"/>
                    <a:pt x="6147943" y="136017"/>
                  </a:cubicBezTo>
                  <a:lnTo>
                    <a:pt x="6141593" y="136017"/>
                  </a:lnTo>
                  <a:lnTo>
                    <a:pt x="6147943" y="136017"/>
                  </a:lnTo>
                  <a:lnTo>
                    <a:pt x="6147943" y="2642108"/>
                  </a:lnTo>
                  <a:lnTo>
                    <a:pt x="6141593" y="2642108"/>
                  </a:lnTo>
                  <a:lnTo>
                    <a:pt x="6147943" y="2642108"/>
                  </a:lnTo>
                  <a:cubicBezTo>
                    <a:pt x="6147943" y="2717165"/>
                    <a:pt x="6086856" y="2778125"/>
                    <a:pt x="6011672" y="2778125"/>
                  </a:cubicBezTo>
                  <a:lnTo>
                    <a:pt x="6011672" y="2771775"/>
                  </a:lnTo>
                  <a:lnTo>
                    <a:pt x="6011672" y="2778125"/>
                  </a:lnTo>
                  <a:lnTo>
                    <a:pt x="136271" y="2778125"/>
                  </a:lnTo>
                  <a:lnTo>
                    <a:pt x="136271" y="2771775"/>
                  </a:lnTo>
                  <a:lnTo>
                    <a:pt x="136271" y="2778125"/>
                  </a:lnTo>
                  <a:cubicBezTo>
                    <a:pt x="61087" y="2778125"/>
                    <a:pt x="0" y="2717292"/>
                    <a:pt x="0" y="2642108"/>
                  </a:cubicBezTo>
                  <a:lnTo>
                    <a:pt x="0" y="136017"/>
                  </a:lnTo>
                  <a:lnTo>
                    <a:pt x="6350" y="136017"/>
                  </a:lnTo>
                  <a:lnTo>
                    <a:pt x="0" y="136017"/>
                  </a:lnTo>
                  <a:moveTo>
                    <a:pt x="12700" y="136017"/>
                  </a:moveTo>
                  <a:lnTo>
                    <a:pt x="12700" y="2642108"/>
                  </a:lnTo>
                  <a:lnTo>
                    <a:pt x="6350" y="2642108"/>
                  </a:lnTo>
                  <a:lnTo>
                    <a:pt x="12700" y="2642108"/>
                  </a:lnTo>
                  <a:cubicBezTo>
                    <a:pt x="12700" y="2710180"/>
                    <a:pt x="68072" y="2765425"/>
                    <a:pt x="136271" y="2765425"/>
                  </a:cubicBezTo>
                  <a:lnTo>
                    <a:pt x="6011672" y="2765425"/>
                  </a:lnTo>
                  <a:cubicBezTo>
                    <a:pt x="6079998" y="2765425"/>
                    <a:pt x="6135243" y="2710180"/>
                    <a:pt x="6135243" y="2642108"/>
                  </a:cubicBezTo>
                  <a:lnTo>
                    <a:pt x="6135243" y="136017"/>
                  </a:lnTo>
                  <a:cubicBezTo>
                    <a:pt x="6135243" y="67945"/>
                    <a:pt x="6079871" y="12700"/>
                    <a:pt x="6011672" y="12700"/>
                  </a:cubicBezTo>
                  <a:lnTo>
                    <a:pt x="136271" y="12700"/>
                  </a:lnTo>
                  <a:lnTo>
                    <a:pt x="136271" y="6350"/>
                  </a:lnTo>
                  <a:lnTo>
                    <a:pt x="136271" y="12700"/>
                  </a:lnTo>
                  <a:cubicBezTo>
                    <a:pt x="68072" y="12700"/>
                    <a:pt x="12700" y="67945"/>
                    <a:pt x="12700" y="136017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1890772" y="3897211"/>
            <a:ext cx="2571750" cy="340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b="true">
                <a:solidFill>
                  <a:srgbClr val="DAD8E9"/>
                </a:solidFill>
                <a:latin typeface="Prompt Bold"/>
                <a:ea typeface="Prompt Bold"/>
                <a:cs typeface="Prompt Bold"/>
                <a:sym typeface="Prompt Bold"/>
              </a:rPr>
              <a:t>High Latency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890772" y="4382691"/>
            <a:ext cx="4119562" cy="1125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499"/>
              </a:lnSpc>
              <a:buFont typeface="Arial"/>
              <a:buChar char="•"/>
            </a:pPr>
            <a:r>
              <a:rPr lang="en-US" sz="181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Frequent data transfers between memory and processor introduce </a:t>
            </a:r>
            <a:r>
              <a:rPr lang="en-US" b="true" sz="1812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significant access latency</a:t>
            </a:r>
            <a:r>
              <a:rPr lang="en-US" sz="181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.</a:t>
            </a:r>
          </a:p>
          <a:p>
            <a:pPr algn="l" marL="273348" indent="-136674" lvl="1">
              <a:lnSpc>
                <a:spcPts val="2499"/>
              </a:lnSpc>
              <a:buFont typeface="Arial"/>
              <a:buChar char="•"/>
            </a:pPr>
            <a:r>
              <a:rPr lang="en-US" sz="181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Memory access delays increasingly dominate total execution time.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1645055" y="5918149"/>
            <a:ext cx="4610995" cy="2068716"/>
            <a:chOff x="0" y="0"/>
            <a:chExt cx="6147994" cy="27582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6350" y="6350"/>
              <a:ext cx="6135243" cy="2745613"/>
            </a:xfrm>
            <a:custGeom>
              <a:avLst/>
              <a:gdLst/>
              <a:ahLst/>
              <a:cxnLst/>
              <a:rect r="r" b="b" t="t" l="l"/>
              <a:pathLst>
                <a:path h="2745613" w="6135243">
                  <a:moveTo>
                    <a:pt x="0" y="129667"/>
                  </a:moveTo>
                  <a:cubicBezTo>
                    <a:pt x="0" y="58039"/>
                    <a:pt x="58166" y="0"/>
                    <a:pt x="129921" y="0"/>
                  </a:cubicBezTo>
                  <a:lnTo>
                    <a:pt x="6005322" y="0"/>
                  </a:lnTo>
                  <a:cubicBezTo>
                    <a:pt x="6077077" y="0"/>
                    <a:pt x="6135243" y="58039"/>
                    <a:pt x="6135243" y="129667"/>
                  </a:cubicBezTo>
                  <a:lnTo>
                    <a:pt x="6135243" y="2615946"/>
                  </a:lnTo>
                  <a:cubicBezTo>
                    <a:pt x="6135243" y="2687574"/>
                    <a:pt x="6077077" y="2745613"/>
                    <a:pt x="6005322" y="2745613"/>
                  </a:cubicBezTo>
                  <a:lnTo>
                    <a:pt x="129921" y="2745613"/>
                  </a:lnTo>
                  <a:cubicBezTo>
                    <a:pt x="58166" y="2745613"/>
                    <a:pt x="0" y="2687574"/>
                    <a:pt x="0" y="2615946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47943" cy="2758313"/>
            </a:xfrm>
            <a:custGeom>
              <a:avLst/>
              <a:gdLst/>
              <a:ahLst/>
              <a:cxnLst/>
              <a:rect r="r" b="b" t="t" l="l"/>
              <a:pathLst>
                <a:path h="2758313" w="6147943">
                  <a:moveTo>
                    <a:pt x="0" y="136017"/>
                  </a:moveTo>
                  <a:cubicBezTo>
                    <a:pt x="0" y="60833"/>
                    <a:pt x="61087" y="0"/>
                    <a:pt x="136271" y="0"/>
                  </a:cubicBezTo>
                  <a:lnTo>
                    <a:pt x="6011672" y="0"/>
                  </a:lnTo>
                  <a:lnTo>
                    <a:pt x="6011672" y="6350"/>
                  </a:lnTo>
                  <a:lnTo>
                    <a:pt x="6011672" y="0"/>
                  </a:lnTo>
                  <a:cubicBezTo>
                    <a:pt x="6086983" y="0"/>
                    <a:pt x="6147943" y="60833"/>
                    <a:pt x="6147943" y="136017"/>
                  </a:cubicBezTo>
                  <a:lnTo>
                    <a:pt x="6141593" y="136017"/>
                  </a:lnTo>
                  <a:lnTo>
                    <a:pt x="6147943" y="136017"/>
                  </a:lnTo>
                  <a:lnTo>
                    <a:pt x="6147943" y="2622296"/>
                  </a:lnTo>
                  <a:lnTo>
                    <a:pt x="6141593" y="2622296"/>
                  </a:lnTo>
                  <a:lnTo>
                    <a:pt x="6147943" y="2622296"/>
                  </a:lnTo>
                  <a:cubicBezTo>
                    <a:pt x="6147943" y="2697353"/>
                    <a:pt x="6086856" y="2758313"/>
                    <a:pt x="6011672" y="2758313"/>
                  </a:cubicBezTo>
                  <a:lnTo>
                    <a:pt x="6011672" y="2751963"/>
                  </a:lnTo>
                  <a:lnTo>
                    <a:pt x="6011672" y="2758313"/>
                  </a:lnTo>
                  <a:lnTo>
                    <a:pt x="136271" y="2758313"/>
                  </a:lnTo>
                  <a:lnTo>
                    <a:pt x="136271" y="2751963"/>
                  </a:lnTo>
                  <a:lnTo>
                    <a:pt x="136271" y="2758313"/>
                  </a:lnTo>
                  <a:cubicBezTo>
                    <a:pt x="61087" y="2758313"/>
                    <a:pt x="0" y="2697480"/>
                    <a:pt x="0" y="2622296"/>
                  </a:cubicBezTo>
                  <a:lnTo>
                    <a:pt x="0" y="136017"/>
                  </a:lnTo>
                  <a:lnTo>
                    <a:pt x="6350" y="136017"/>
                  </a:lnTo>
                  <a:lnTo>
                    <a:pt x="0" y="136017"/>
                  </a:lnTo>
                  <a:moveTo>
                    <a:pt x="12700" y="136017"/>
                  </a:moveTo>
                  <a:lnTo>
                    <a:pt x="12700" y="2622296"/>
                  </a:lnTo>
                  <a:lnTo>
                    <a:pt x="6350" y="2622296"/>
                  </a:lnTo>
                  <a:lnTo>
                    <a:pt x="12700" y="2622296"/>
                  </a:lnTo>
                  <a:cubicBezTo>
                    <a:pt x="12700" y="2690368"/>
                    <a:pt x="68072" y="2745613"/>
                    <a:pt x="136271" y="2745613"/>
                  </a:cubicBezTo>
                  <a:lnTo>
                    <a:pt x="6011672" y="2745613"/>
                  </a:lnTo>
                  <a:cubicBezTo>
                    <a:pt x="6079998" y="2745613"/>
                    <a:pt x="6135243" y="2690368"/>
                    <a:pt x="6135243" y="2622296"/>
                  </a:cubicBezTo>
                  <a:lnTo>
                    <a:pt x="6135243" y="136017"/>
                  </a:lnTo>
                  <a:cubicBezTo>
                    <a:pt x="6135243" y="67945"/>
                    <a:pt x="6079871" y="12700"/>
                    <a:pt x="6011672" y="12700"/>
                  </a:cubicBezTo>
                  <a:lnTo>
                    <a:pt x="136271" y="12700"/>
                  </a:lnTo>
                  <a:lnTo>
                    <a:pt x="136271" y="6350"/>
                  </a:lnTo>
                  <a:lnTo>
                    <a:pt x="136271" y="12700"/>
                  </a:lnTo>
                  <a:cubicBezTo>
                    <a:pt x="68072" y="12700"/>
                    <a:pt x="12700" y="67945"/>
                    <a:pt x="12700" y="136017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890772" y="6135291"/>
            <a:ext cx="4119562" cy="35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812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High Energy Cost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890772" y="6615408"/>
            <a:ext cx="4119562" cy="1125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3348" indent="-136674" lvl="1">
              <a:lnSpc>
                <a:spcPts val="2499"/>
              </a:lnSpc>
              <a:buFont typeface="Arial"/>
              <a:buChar char="•"/>
            </a:pPr>
            <a:r>
              <a:rPr lang="en-US" sz="181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Moving data consumes </a:t>
            </a:r>
            <a:r>
              <a:rPr lang="en-US" b="true" sz="1812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more energy than arithmetic operations</a:t>
            </a:r>
            <a:r>
              <a:rPr lang="en-US" sz="181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.</a:t>
            </a:r>
          </a:p>
          <a:p>
            <a:pPr algn="l" marL="273348" indent="-136674" lvl="1">
              <a:lnSpc>
                <a:spcPts val="2499"/>
              </a:lnSpc>
              <a:buFont typeface="Arial"/>
              <a:buChar char="•"/>
            </a:pPr>
            <a:r>
              <a:rPr lang="en-US" sz="181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In modern systems, </a:t>
            </a:r>
            <a:r>
              <a:rPr lang="en-US" b="true" sz="1812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data movement, ot computation is the primary energy bottleneck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80049" y="1354484"/>
            <a:ext cx="820493" cy="4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A95B95"/>
                </a:solidFill>
                <a:latin typeface="Mukta Light"/>
                <a:ea typeface="Mukta Light"/>
                <a:cs typeface="Mukta Light"/>
                <a:sym typeface="Mukta Light"/>
              </a:rPr>
              <a:t>INSIGHT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80049" y="2003527"/>
            <a:ext cx="9364713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Processing-In-Memory (PIM)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21586" y="3651199"/>
            <a:ext cx="10465003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187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Move Compute to Data, Not Data to Compute - OTP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3621586" y="4560684"/>
            <a:ext cx="308524" cy="308524"/>
          </a:xfrm>
          <a:custGeom>
            <a:avLst/>
            <a:gdLst/>
            <a:ahLst/>
            <a:cxnLst/>
            <a:rect r="r" b="b" t="t" l="l"/>
            <a:pathLst>
              <a:path h="308524" w="308524">
                <a:moveTo>
                  <a:pt x="0" y="0"/>
                </a:moveTo>
                <a:lnTo>
                  <a:pt x="308524" y="0"/>
                </a:lnTo>
                <a:lnTo>
                  <a:pt x="308524" y="308525"/>
                </a:lnTo>
                <a:lnTo>
                  <a:pt x="0" y="3085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7576" r="0" b="-7573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621586" y="5008512"/>
            <a:ext cx="4326141" cy="38100"/>
            <a:chOff x="0" y="0"/>
            <a:chExt cx="5768188" cy="50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768213" cy="50800"/>
            </a:xfrm>
            <a:custGeom>
              <a:avLst/>
              <a:gdLst/>
              <a:ahLst/>
              <a:cxnLst/>
              <a:rect r="r" b="b" t="t" l="l"/>
              <a:pathLst>
                <a:path h="50800" w="5768213">
                  <a:moveTo>
                    <a:pt x="0" y="0"/>
                  </a:moveTo>
                  <a:lnTo>
                    <a:pt x="5768213" y="0"/>
                  </a:lnTo>
                  <a:lnTo>
                    <a:pt x="576821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621586" y="5229377"/>
            <a:ext cx="4326141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Computation Inside Memory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21586" y="6309417"/>
            <a:ext cx="4326141" cy="2070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We implemented a 2×2  PIM crossbar that performs PIM multiply accumulate (MAC), the core operation of neural networks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8256241" y="4560684"/>
            <a:ext cx="308524" cy="308524"/>
          </a:xfrm>
          <a:custGeom>
            <a:avLst/>
            <a:gdLst/>
            <a:ahLst/>
            <a:cxnLst/>
            <a:rect r="r" b="b" t="t" l="l"/>
            <a:pathLst>
              <a:path h="308524" w="308524">
                <a:moveTo>
                  <a:pt x="0" y="0"/>
                </a:moveTo>
                <a:lnTo>
                  <a:pt x="308525" y="0"/>
                </a:lnTo>
                <a:lnTo>
                  <a:pt x="308525" y="308525"/>
                </a:lnTo>
                <a:lnTo>
                  <a:pt x="0" y="3085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25757" r="0" b="-25757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8256241" y="5008512"/>
            <a:ext cx="4326284" cy="38100"/>
            <a:chOff x="0" y="0"/>
            <a:chExt cx="5768378" cy="50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768340" cy="50800"/>
            </a:xfrm>
            <a:custGeom>
              <a:avLst/>
              <a:gdLst/>
              <a:ahLst/>
              <a:cxnLst/>
              <a:rect r="r" b="b" t="t" l="l"/>
              <a:pathLst>
                <a:path h="50800" w="5768340">
                  <a:moveTo>
                    <a:pt x="0" y="0"/>
                  </a:moveTo>
                  <a:lnTo>
                    <a:pt x="5768340" y="0"/>
                  </a:lnTo>
                  <a:lnTo>
                    <a:pt x="57683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8256241" y="5229377"/>
            <a:ext cx="375790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Reduce Data Transfers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56241" y="5880792"/>
            <a:ext cx="4326284" cy="108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Eliminate unnecessary movement between memory and processor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12891049" y="4560684"/>
            <a:ext cx="308524" cy="308524"/>
          </a:xfrm>
          <a:custGeom>
            <a:avLst/>
            <a:gdLst/>
            <a:ahLst/>
            <a:cxnLst/>
            <a:rect r="r" b="b" t="t" l="l"/>
            <a:pathLst>
              <a:path h="308524" w="308524">
                <a:moveTo>
                  <a:pt x="0" y="0"/>
                </a:moveTo>
                <a:lnTo>
                  <a:pt x="308525" y="0"/>
                </a:lnTo>
                <a:lnTo>
                  <a:pt x="308525" y="308525"/>
                </a:lnTo>
                <a:lnTo>
                  <a:pt x="0" y="30852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4241" r="0" b="-24241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891049" y="5008512"/>
            <a:ext cx="4326284" cy="38100"/>
            <a:chOff x="0" y="0"/>
            <a:chExt cx="5768378" cy="50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768340" cy="50800"/>
            </a:xfrm>
            <a:custGeom>
              <a:avLst/>
              <a:gdLst/>
              <a:ahLst/>
              <a:cxnLst/>
              <a:rect r="r" b="b" t="t" l="l"/>
              <a:pathLst>
                <a:path h="50800" w="5768340">
                  <a:moveTo>
                    <a:pt x="0" y="0"/>
                  </a:moveTo>
                  <a:lnTo>
                    <a:pt x="5768340" y="0"/>
                  </a:lnTo>
                  <a:lnTo>
                    <a:pt x="576834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891049" y="5229377"/>
            <a:ext cx="4326284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Improve Energy Efficiency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891049" y="6309417"/>
            <a:ext cx="4326284" cy="1082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5"/>
              </a:lnSpc>
            </a:pPr>
            <a:r>
              <a:rPr lang="en-US" sz="2375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Lower power consumption by minimizing data movement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02286" y="728072"/>
            <a:ext cx="835076" cy="320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500">
                <a:solidFill>
                  <a:srgbClr val="A95B95"/>
                </a:solidFill>
                <a:latin typeface="Mukta Light"/>
                <a:ea typeface="Mukta Light"/>
                <a:cs typeface="Mukta Light"/>
                <a:sym typeface="Mukta Light"/>
              </a:rPr>
              <a:t>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02286" y="1172318"/>
            <a:ext cx="8770591" cy="711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250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PIM's Potential: Core Advantages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02286" y="2130323"/>
            <a:ext cx="15083285" cy="754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1874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Processing-In-Memory (PIM) fundamentally reshapes how data is handled, moving computation closer to storage to resolve the traditional data movement bottleneck.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87998" y="3090710"/>
            <a:ext cx="15111860" cy="1504055"/>
            <a:chOff x="0" y="0"/>
            <a:chExt cx="20149147" cy="200540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9050" y="19050"/>
              <a:ext cx="20110958" cy="1967230"/>
            </a:xfrm>
            <a:custGeom>
              <a:avLst/>
              <a:gdLst/>
              <a:ahLst/>
              <a:cxnLst/>
              <a:rect r="r" b="b" t="t" l="l"/>
              <a:pathLst>
                <a:path h="1967230" w="20110958">
                  <a:moveTo>
                    <a:pt x="0" y="137668"/>
                  </a:moveTo>
                  <a:cubicBezTo>
                    <a:pt x="0" y="61595"/>
                    <a:pt x="62738" y="0"/>
                    <a:pt x="140081" y="0"/>
                  </a:cubicBezTo>
                  <a:lnTo>
                    <a:pt x="19970877" y="0"/>
                  </a:lnTo>
                  <a:cubicBezTo>
                    <a:pt x="20048220" y="0"/>
                    <a:pt x="20110958" y="61595"/>
                    <a:pt x="20110958" y="137668"/>
                  </a:cubicBezTo>
                  <a:lnTo>
                    <a:pt x="20110958" y="1829562"/>
                  </a:lnTo>
                  <a:cubicBezTo>
                    <a:pt x="20110958" y="1905635"/>
                    <a:pt x="20048220" y="1967230"/>
                    <a:pt x="19970877" y="1967230"/>
                  </a:cubicBezTo>
                  <a:lnTo>
                    <a:pt x="140081" y="1967230"/>
                  </a:lnTo>
                  <a:cubicBezTo>
                    <a:pt x="62738" y="1967230"/>
                    <a:pt x="0" y="1905635"/>
                    <a:pt x="0" y="1829562"/>
                  </a:cubicBez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149058" cy="2005330"/>
            </a:xfrm>
            <a:custGeom>
              <a:avLst/>
              <a:gdLst/>
              <a:ahLst/>
              <a:cxnLst/>
              <a:rect r="r" b="b" t="t" l="l"/>
              <a:pathLst>
                <a:path h="2005330" w="20149058">
                  <a:moveTo>
                    <a:pt x="0" y="156718"/>
                  </a:moveTo>
                  <a:cubicBezTo>
                    <a:pt x="0" y="69850"/>
                    <a:pt x="71628" y="0"/>
                    <a:pt x="159131" y="0"/>
                  </a:cubicBezTo>
                  <a:lnTo>
                    <a:pt x="19989927" y="0"/>
                  </a:lnTo>
                  <a:lnTo>
                    <a:pt x="19989927" y="19050"/>
                  </a:lnTo>
                  <a:lnTo>
                    <a:pt x="19989927" y="0"/>
                  </a:lnTo>
                  <a:cubicBezTo>
                    <a:pt x="20077557" y="0"/>
                    <a:pt x="20149058" y="69850"/>
                    <a:pt x="20149058" y="156718"/>
                  </a:cubicBezTo>
                  <a:lnTo>
                    <a:pt x="20130008" y="156718"/>
                  </a:lnTo>
                  <a:lnTo>
                    <a:pt x="20149058" y="156718"/>
                  </a:lnTo>
                  <a:lnTo>
                    <a:pt x="20149058" y="1848612"/>
                  </a:lnTo>
                  <a:lnTo>
                    <a:pt x="20130008" y="1848612"/>
                  </a:lnTo>
                  <a:lnTo>
                    <a:pt x="20149058" y="1848612"/>
                  </a:lnTo>
                  <a:cubicBezTo>
                    <a:pt x="20149058" y="1935480"/>
                    <a:pt x="20077430" y="2005330"/>
                    <a:pt x="19989927" y="2005330"/>
                  </a:cubicBezTo>
                  <a:lnTo>
                    <a:pt x="19989927" y="1986280"/>
                  </a:lnTo>
                  <a:lnTo>
                    <a:pt x="19989927" y="2005330"/>
                  </a:lnTo>
                  <a:lnTo>
                    <a:pt x="159131" y="2005330"/>
                  </a:lnTo>
                  <a:lnTo>
                    <a:pt x="159131" y="1986280"/>
                  </a:lnTo>
                  <a:lnTo>
                    <a:pt x="159131" y="2005330"/>
                  </a:lnTo>
                  <a:cubicBezTo>
                    <a:pt x="71628" y="2005457"/>
                    <a:pt x="0" y="1935480"/>
                    <a:pt x="0" y="1848612"/>
                  </a:cubicBezTo>
                  <a:lnTo>
                    <a:pt x="0" y="156718"/>
                  </a:lnTo>
                  <a:lnTo>
                    <a:pt x="19050" y="156718"/>
                  </a:lnTo>
                  <a:lnTo>
                    <a:pt x="0" y="156718"/>
                  </a:lnTo>
                  <a:moveTo>
                    <a:pt x="38100" y="156718"/>
                  </a:moveTo>
                  <a:lnTo>
                    <a:pt x="38100" y="1848612"/>
                  </a:lnTo>
                  <a:lnTo>
                    <a:pt x="19050" y="1848612"/>
                  </a:lnTo>
                  <a:lnTo>
                    <a:pt x="38100" y="1848612"/>
                  </a:lnTo>
                  <a:cubicBezTo>
                    <a:pt x="38100" y="1913890"/>
                    <a:pt x="91948" y="1967230"/>
                    <a:pt x="159131" y="1967230"/>
                  </a:cubicBezTo>
                  <a:lnTo>
                    <a:pt x="19989927" y="1967230"/>
                  </a:lnTo>
                  <a:cubicBezTo>
                    <a:pt x="20057111" y="1967230"/>
                    <a:pt x="20110958" y="1913763"/>
                    <a:pt x="20110958" y="1848612"/>
                  </a:cubicBezTo>
                  <a:lnTo>
                    <a:pt x="20110958" y="156718"/>
                  </a:lnTo>
                  <a:cubicBezTo>
                    <a:pt x="20110958" y="91440"/>
                    <a:pt x="20057111" y="38100"/>
                    <a:pt x="19989927" y="38100"/>
                  </a:cubicBezTo>
                  <a:lnTo>
                    <a:pt x="159131" y="38100"/>
                  </a:lnTo>
                  <a:lnTo>
                    <a:pt x="159131" y="19050"/>
                  </a:lnTo>
                  <a:lnTo>
                    <a:pt x="159131" y="38100"/>
                  </a:lnTo>
                  <a:cubicBezTo>
                    <a:pt x="91948" y="38100"/>
                    <a:pt x="38100" y="91567"/>
                    <a:pt x="38100" y="156718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630861" y="3133573"/>
            <a:ext cx="983609" cy="1418330"/>
            <a:chOff x="0" y="0"/>
            <a:chExt cx="1311478" cy="189110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1402" cy="1891030"/>
            </a:xfrm>
            <a:custGeom>
              <a:avLst/>
              <a:gdLst/>
              <a:ahLst/>
              <a:cxnLst/>
              <a:rect r="r" b="b" t="t" l="l"/>
              <a:pathLst>
                <a:path h="1891030" w="1311402">
                  <a:moveTo>
                    <a:pt x="0" y="91948"/>
                  </a:moveTo>
                  <a:cubicBezTo>
                    <a:pt x="0" y="41148"/>
                    <a:pt x="41148" y="0"/>
                    <a:pt x="91948" y="0"/>
                  </a:cubicBezTo>
                  <a:lnTo>
                    <a:pt x="1219454" y="0"/>
                  </a:lnTo>
                  <a:cubicBezTo>
                    <a:pt x="1270254" y="0"/>
                    <a:pt x="1311402" y="41148"/>
                    <a:pt x="1311402" y="91948"/>
                  </a:cubicBezTo>
                  <a:lnTo>
                    <a:pt x="1311402" y="1799082"/>
                  </a:lnTo>
                  <a:cubicBezTo>
                    <a:pt x="1311402" y="1849882"/>
                    <a:pt x="1270254" y="1891030"/>
                    <a:pt x="1219454" y="1891030"/>
                  </a:cubicBezTo>
                  <a:lnTo>
                    <a:pt x="91948" y="1891030"/>
                  </a:lnTo>
                  <a:cubicBezTo>
                    <a:pt x="41148" y="1891030"/>
                    <a:pt x="0" y="1849882"/>
                    <a:pt x="0" y="1799082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</p:grpSp>
      <p:sp>
        <p:nvSpPr>
          <p:cNvPr name="Freeform 14" id="14" descr="preencoded.png"/>
          <p:cNvSpPr/>
          <p:nvPr/>
        </p:nvSpPr>
        <p:spPr>
          <a:xfrm flipH="false" flipV="false" rot="0">
            <a:off x="1933423" y="3658343"/>
            <a:ext cx="368798" cy="368798"/>
          </a:xfrm>
          <a:custGeom>
            <a:avLst/>
            <a:gdLst/>
            <a:ahLst/>
            <a:cxnLst/>
            <a:rect r="r" b="b" t="t" l="l"/>
            <a:pathLst>
              <a:path h="368798" w="368798">
                <a:moveTo>
                  <a:pt x="0" y="0"/>
                </a:moveTo>
                <a:lnTo>
                  <a:pt x="368798" y="0"/>
                </a:lnTo>
                <a:lnTo>
                  <a:pt x="368798" y="368798"/>
                </a:lnTo>
                <a:lnTo>
                  <a:pt x="0" y="3687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6922" t="0" r="-26922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810323" y="3369916"/>
            <a:ext cx="3774281" cy="351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Computation Inside Memory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10323" y="3800475"/>
            <a:ext cx="13600805" cy="320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50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Arithmetic operations are executed directly where data is stored, minimizing the need for constant data transfers.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587998" y="4762052"/>
            <a:ext cx="15111860" cy="1504055"/>
            <a:chOff x="0" y="0"/>
            <a:chExt cx="20149147" cy="200540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9050" y="19050"/>
              <a:ext cx="20110958" cy="1967230"/>
            </a:xfrm>
            <a:custGeom>
              <a:avLst/>
              <a:gdLst/>
              <a:ahLst/>
              <a:cxnLst/>
              <a:rect r="r" b="b" t="t" l="l"/>
              <a:pathLst>
                <a:path h="1967230" w="20110958">
                  <a:moveTo>
                    <a:pt x="0" y="137668"/>
                  </a:moveTo>
                  <a:cubicBezTo>
                    <a:pt x="0" y="61595"/>
                    <a:pt x="62738" y="0"/>
                    <a:pt x="140081" y="0"/>
                  </a:cubicBezTo>
                  <a:lnTo>
                    <a:pt x="19970877" y="0"/>
                  </a:lnTo>
                  <a:cubicBezTo>
                    <a:pt x="20048220" y="0"/>
                    <a:pt x="20110958" y="61595"/>
                    <a:pt x="20110958" y="137668"/>
                  </a:cubicBezTo>
                  <a:lnTo>
                    <a:pt x="20110958" y="1829562"/>
                  </a:lnTo>
                  <a:cubicBezTo>
                    <a:pt x="20110958" y="1905635"/>
                    <a:pt x="20048220" y="1967230"/>
                    <a:pt x="19970877" y="1967230"/>
                  </a:cubicBezTo>
                  <a:lnTo>
                    <a:pt x="140081" y="1967230"/>
                  </a:lnTo>
                  <a:cubicBezTo>
                    <a:pt x="62738" y="1967230"/>
                    <a:pt x="0" y="1905635"/>
                    <a:pt x="0" y="1829562"/>
                  </a:cubicBez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0149058" cy="2005330"/>
            </a:xfrm>
            <a:custGeom>
              <a:avLst/>
              <a:gdLst/>
              <a:ahLst/>
              <a:cxnLst/>
              <a:rect r="r" b="b" t="t" l="l"/>
              <a:pathLst>
                <a:path h="2005330" w="20149058">
                  <a:moveTo>
                    <a:pt x="0" y="156718"/>
                  </a:moveTo>
                  <a:cubicBezTo>
                    <a:pt x="0" y="69850"/>
                    <a:pt x="71628" y="0"/>
                    <a:pt x="159131" y="0"/>
                  </a:cubicBezTo>
                  <a:lnTo>
                    <a:pt x="19989927" y="0"/>
                  </a:lnTo>
                  <a:lnTo>
                    <a:pt x="19989927" y="19050"/>
                  </a:lnTo>
                  <a:lnTo>
                    <a:pt x="19989927" y="0"/>
                  </a:lnTo>
                  <a:cubicBezTo>
                    <a:pt x="20077557" y="0"/>
                    <a:pt x="20149058" y="69850"/>
                    <a:pt x="20149058" y="156718"/>
                  </a:cubicBezTo>
                  <a:lnTo>
                    <a:pt x="20130008" y="156718"/>
                  </a:lnTo>
                  <a:lnTo>
                    <a:pt x="20149058" y="156718"/>
                  </a:lnTo>
                  <a:lnTo>
                    <a:pt x="20149058" y="1848612"/>
                  </a:lnTo>
                  <a:lnTo>
                    <a:pt x="20130008" y="1848612"/>
                  </a:lnTo>
                  <a:lnTo>
                    <a:pt x="20149058" y="1848612"/>
                  </a:lnTo>
                  <a:cubicBezTo>
                    <a:pt x="20149058" y="1935480"/>
                    <a:pt x="20077430" y="2005330"/>
                    <a:pt x="19989927" y="2005330"/>
                  </a:cubicBezTo>
                  <a:lnTo>
                    <a:pt x="19989927" y="1986280"/>
                  </a:lnTo>
                  <a:lnTo>
                    <a:pt x="19989927" y="2005330"/>
                  </a:lnTo>
                  <a:lnTo>
                    <a:pt x="159131" y="2005330"/>
                  </a:lnTo>
                  <a:lnTo>
                    <a:pt x="159131" y="1986280"/>
                  </a:lnTo>
                  <a:lnTo>
                    <a:pt x="159131" y="2005330"/>
                  </a:lnTo>
                  <a:cubicBezTo>
                    <a:pt x="71628" y="2005457"/>
                    <a:pt x="0" y="1935480"/>
                    <a:pt x="0" y="1848612"/>
                  </a:cubicBezTo>
                  <a:lnTo>
                    <a:pt x="0" y="156718"/>
                  </a:lnTo>
                  <a:lnTo>
                    <a:pt x="19050" y="156718"/>
                  </a:lnTo>
                  <a:lnTo>
                    <a:pt x="0" y="156718"/>
                  </a:lnTo>
                  <a:moveTo>
                    <a:pt x="38100" y="156718"/>
                  </a:moveTo>
                  <a:lnTo>
                    <a:pt x="38100" y="1848612"/>
                  </a:lnTo>
                  <a:lnTo>
                    <a:pt x="19050" y="1848612"/>
                  </a:lnTo>
                  <a:lnTo>
                    <a:pt x="38100" y="1848612"/>
                  </a:lnTo>
                  <a:cubicBezTo>
                    <a:pt x="38100" y="1913890"/>
                    <a:pt x="91948" y="1967230"/>
                    <a:pt x="159131" y="1967230"/>
                  </a:cubicBezTo>
                  <a:lnTo>
                    <a:pt x="19989927" y="1967230"/>
                  </a:lnTo>
                  <a:cubicBezTo>
                    <a:pt x="20057111" y="1967230"/>
                    <a:pt x="20110958" y="1913763"/>
                    <a:pt x="20110958" y="1848612"/>
                  </a:cubicBezTo>
                  <a:lnTo>
                    <a:pt x="20110958" y="156718"/>
                  </a:lnTo>
                  <a:cubicBezTo>
                    <a:pt x="20110958" y="91440"/>
                    <a:pt x="20057111" y="38100"/>
                    <a:pt x="19989927" y="38100"/>
                  </a:cubicBezTo>
                  <a:lnTo>
                    <a:pt x="159131" y="38100"/>
                  </a:lnTo>
                  <a:lnTo>
                    <a:pt x="159131" y="19050"/>
                  </a:lnTo>
                  <a:lnTo>
                    <a:pt x="159131" y="38100"/>
                  </a:lnTo>
                  <a:cubicBezTo>
                    <a:pt x="91948" y="38100"/>
                    <a:pt x="38100" y="91567"/>
                    <a:pt x="38100" y="156718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30861" y="4804915"/>
            <a:ext cx="983609" cy="1418330"/>
            <a:chOff x="0" y="0"/>
            <a:chExt cx="1311478" cy="189110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11402" cy="1891030"/>
            </a:xfrm>
            <a:custGeom>
              <a:avLst/>
              <a:gdLst/>
              <a:ahLst/>
              <a:cxnLst/>
              <a:rect r="r" b="b" t="t" l="l"/>
              <a:pathLst>
                <a:path h="1891030" w="1311402">
                  <a:moveTo>
                    <a:pt x="0" y="91948"/>
                  </a:moveTo>
                  <a:cubicBezTo>
                    <a:pt x="0" y="41148"/>
                    <a:pt x="41148" y="0"/>
                    <a:pt x="91948" y="0"/>
                  </a:cubicBezTo>
                  <a:lnTo>
                    <a:pt x="1219454" y="0"/>
                  </a:lnTo>
                  <a:cubicBezTo>
                    <a:pt x="1270254" y="0"/>
                    <a:pt x="1311402" y="41148"/>
                    <a:pt x="1311402" y="91948"/>
                  </a:cubicBezTo>
                  <a:lnTo>
                    <a:pt x="1311402" y="1799082"/>
                  </a:lnTo>
                  <a:cubicBezTo>
                    <a:pt x="1311402" y="1849882"/>
                    <a:pt x="1270254" y="1891030"/>
                    <a:pt x="1219454" y="1891030"/>
                  </a:cubicBezTo>
                  <a:lnTo>
                    <a:pt x="91948" y="1891030"/>
                  </a:lnTo>
                  <a:cubicBezTo>
                    <a:pt x="41148" y="1891030"/>
                    <a:pt x="0" y="1849882"/>
                    <a:pt x="0" y="1799082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</p:grpSp>
      <p:sp>
        <p:nvSpPr>
          <p:cNvPr name="Freeform 22" id="22" descr="preencoded.png"/>
          <p:cNvSpPr/>
          <p:nvPr/>
        </p:nvSpPr>
        <p:spPr>
          <a:xfrm flipH="false" flipV="false" rot="0">
            <a:off x="1933423" y="5329685"/>
            <a:ext cx="368798" cy="368798"/>
          </a:xfrm>
          <a:custGeom>
            <a:avLst/>
            <a:gdLst/>
            <a:ahLst/>
            <a:cxnLst/>
            <a:rect r="r" b="b" t="t" l="l"/>
            <a:pathLst>
              <a:path h="368798" w="368798">
                <a:moveTo>
                  <a:pt x="0" y="0"/>
                </a:moveTo>
                <a:lnTo>
                  <a:pt x="368798" y="0"/>
                </a:lnTo>
                <a:lnTo>
                  <a:pt x="368798" y="368799"/>
                </a:lnTo>
                <a:lnTo>
                  <a:pt x="0" y="3687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810323" y="5041259"/>
            <a:ext cx="3174502" cy="351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Reduced Data Transfers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810323" y="5471817"/>
            <a:ext cx="13600805" cy="320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50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Eliminates repeated and inefficient memory-processor communication, freeing up bandwidth.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587998" y="6433395"/>
            <a:ext cx="15111860" cy="1504055"/>
            <a:chOff x="0" y="0"/>
            <a:chExt cx="20149147" cy="200540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9050" y="19050"/>
              <a:ext cx="20110958" cy="1967230"/>
            </a:xfrm>
            <a:custGeom>
              <a:avLst/>
              <a:gdLst/>
              <a:ahLst/>
              <a:cxnLst/>
              <a:rect r="r" b="b" t="t" l="l"/>
              <a:pathLst>
                <a:path h="1967230" w="20110958">
                  <a:moveTo>
                    <a:pt x="0" y="137668"/>
                  </a:moveTo>
                  <a:cubicBezTo>
                    <a:pt x="0" y="61595"/>
                    <a:pt x="62738" y="0"/>
                    <a:pt x="140081" y="0"/>
                  </a:cubicBezTo>
                  <a:lnTo>
                    <a:pt x="19970877" y="0"/>
                  </a:lnTo>
                  <a:cubicBezTo>
                    <a:pt x="20048220" y="0"/>
                    <a:pt x="20110958" y="61595"/>
                    <a:pt x="20110958" y="137668"/>
                  </a:cubicBezTo>
                  <a:lnTo>
                    <a:pt x="20110958" y="1829562"/>
                  </a:lnTo>
                  <a:cubicBezTo>
                    <a:pt x="20110958" y="1905635"/>
                    <a:pt x="20048220" y="1967230"/>
                    <a:pt x="19970877" y="1967230"/>
                  </a:cubicBezTo>
                  <a:lnTo>
                    <a:pt x="140081" y="1967230"/>
                  </a:lnTo>
                  <a:cubicBezTo>
                    <a:pt x="62738" y="1967230"/>
                    <a:pt x="0" y="1905635"/>
                    <a:pt x="0" y="1829562"/>
                  </a:cubicBez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149058" cy="2005330"/>
            </a:xfrm>
            <a:custGeom>
              <a:avLst/>
              <a:gdLst/>
              <a:ahLst/>
              <a:cxnLst/>
              <a:rect r="r" b="b" t="t" l="l"/>
              <a:pathLst>
                <a:path h="2005330" w="20149058">
                  <a:moveTo>
                    <a:pt x="0" y="156718"/>
                  </a:moveTo>
                  <a:cubicBezTo>
                    <a:pt x="0" y="69850"/>
                    <a:pt x="71628" y="0"/>
                    <a:pt x="159131" y="0"/>
                  </a:cubicBezTo>
                  <a:lnTo>
                    <a:pt x="19989927" y="0"/>
                  </a:lnTo>
                  <a:lnTo>
                    <a:pt x="19989927" y="19050"/>
                  </a:lnTo>
                  <a:lnTo>
                    <a:pt x="19989927" y="0"/>
                  </a:lnTo>
                  <a:cubicBezTo>
                    <a:pt x="20077557" y="0"/>
                    <a:pt x="20149058" y="69850"/>
                    <a:pt x="20149058" y="156718"/>
                  </a:cubicBezTo>
                  <a:lnTo>
                    <a:pt x="20130008" y="156718"/>
                  </a:lnTo>
                  <a:lnTo>
                    <a:pt x="20149058" y="156718"/>
                  </a:lnTo>
                  <a:lnTo>
                    <a:pt x="20149058" y="1848612"/>
                  </a:lnTo>
                  <a:lnTo>
                    <a:pt x="20130008" y="1848612"/>
                  </a:lnTo>
                  <a:lnTo>
                    <a:pt x="20149058" y="1848612"/>
                  </a:lnTo>
                  <a:cubicBezTo>
                    <a:pt x="20149058" y="1935480"/>
                    <a:pt x="20077430" y="2005330"/>
                    <a:pt x="19989927" y="2005330"/>
                  </a:cubicBezTo>
                  <a:lnTo>
                    <a:pt x="19989927" y="1986280"/>
                  </a:lnTo>
                  <a:lnTo>
                    <a:pt x="19989927" y="2005330"/>
                  </a:lnTo>
                  <a:lnTo>
                    <a:pt x="159131" y="2005330"/>
                  </a:lnTo>
                  <a:lnTo>
                    <a:pt x="159131" y="1986280"/>
                  </a:lnTo>
                  <a:lnTo>
                    <a:pt x="159131" y="2005330"/>
                  </a:lnTo>
                  <a:cubicBezTo>
                    <a:pt x="71628" y="2005457"/>
                    <a:pt x="0" y="1935480"/>
                    <a:pt x="0" y="1848612"/>
                  </a:cubicBezTo>
                  <a:lnTo>
                    <a:pt x="0" y="156718"/>
                  </a:lnTo>
                  <a:lnTo>
                    <a:pt x="19050" y="156718"/>
                  </a:lnTo>
                  <a:lnTo>
                    <a:pt x="0" y="156718"/>
                  </a:lnTo>
                  <a:moveTo>
                    <a:pt x="38100" y="156718"/>
                  </a:moveTo>
                  <a:lnTo>
                    <a:pt x="38100" y="1848612"/>
                  </a:lnTo>
                  <a:lnTo>
                    <a:pt x="19050" y="1848612"/>
                  </a:lnTo>
                  <a:lnTo>
                    <a:pt x="38100" y="1848612"/>
                  </a:lnTo>
                  <a:cubicBezTo>
                    <a:pt x="38100" y="1913890"/>
                    <a:pt x="91948" y="1967230"/>
                    <a:pt x="159131" y="1967230"/>
                  </a:cubicBezTo>
                  <a:lnTo>
                    <a:pt x="19989927" y="1967230"/>
                  </a:lnTo>
                  <a:cubicBezTo>
                    <a:pt x="20057111" y="1967230"/>
                    <a:pt x="20110958" y="1913763"/>
                    <a:pt x="20110958" y="1848612"/>
                  </a:cubicBezTo>
                  <a:lnTo>
                    <a:pt x="20110958" y="156718"/>
                  </a:lnTo>
                  <a:cubicBezTo>
                    <a:pt x="20110958" y="91440"/>
                    <a:pt x="20057111" y="38100"/>
                    <a:pt x="19989927" y="38100"/>
                  </a:cubicBezTo>
                  <a:lnTo>
                    <a:pt x="159131" y="38100"/>
                  </a:lnTo>
                  <a:lnTo>
                    <a:pt x="159131" y="19050"/>
                  </a:lnTo>
                  <a:lnTo>
                    <a:pt x="159131" y="38100"/>
                  </a:lnTo>
                  <a:cubicBezTo>
                    <a:pt x="91948" y="38100"/>
                    <a:pt x="38100" y="91567"/>
                    <a:pt x="38100" y="156718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630861" y="6476257"/>
            <a:ext cx="983609" cy="1418330"/>
            <a:chOff x="0" y="0"/>
            <a:chExt cx="1311478" cy="189110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11402" cy="1891030"/>
            </a:xfrm>
            <a:custGeom>
              <a:avLst/>
              <a:gdLst/>
              <a:ahLst/>
              <a:cxnLst/>
              <a:rect r="r" b="b" t="t" l="l"/>
              <a:pathLst>
                <a:path h="1891030" w="1311402">
                  <a:moveTo>
                    <a:pt x="0" y="91948"/>
                  </a:moveTo>
                  <a:cubicBezTo>
                    <a:pt x="0" y="41148"/>
                    <a:pt x="41148" y="0"/>
                    <a:pt x="91948" y="0"/>
                  </a:cubicBezTo>
                  <a:lnTo>
                    <a:pt x="1219454" y="0"/>
                  </a:lnTo>
                  <a:cubicBezTo>
                    <a:pt x="1270254" y="0"/>
                    <a:pt x="1311402" y="41148"/>
                    <a:pt x="1311402" y="91948"/>
                  </a:cubicBezTo>
                  <a:lnTo>
                    <a:pt x="1311402" y="1799082"/>
                  </a:lnTo>
                  <a:cubicBezTo>
                    <a:pt x="1311402" y="1849882"/>
                    <a:pt x="1270254" y="1891030"/>
                    <a:pt x="1219454" y="1891030"/>
                  </a:cubicBezTo>
                  <a:lnTo>
                    <a:pt x="91948" y="1891030"/>
                  </a:lnTo>
                  <a:cubicBezTo>
                    <a:pt x="41148" y="1891030"/>
                    <a:pt x="0" y="1849882"/>
                    <a:pt x="0" y="1799082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</p:grpSp>
      <p:sp>
        <p:nvSpPr>
          <p:cNvPr name="Freeform 30" id="30" descr="preencoded.png"/>
          <p:cNvSpPr/>
          <p:nvPr/>
        </p:nvSpPr>
        <p:spPr>
          <a:xfrm flipH="false" flipV="false" rot="0">
            <a:off x="1933423" y="7001027"/>
            <a:ext cx="368798" cy="368798"/>
          </a:xfrm>
          <a:custGeom>
            <a:avLst/>
            <a:gdLst/>
            <a:ahLst/>
            <a:cxnLst/>
            <a:rect r="r" b="b" t="t" l="l"/>
            <a:pathLst>
              <a:path h="368798" w="368798">
                <a:moveTo>
                  <a:pt x="0" y="0"/>
                </a:moveTo>
                <a:lnTo>
                  <a:pt x="368798" y="0"/>
                </a:lnTo>
                <a:lnTo>
                  <a:pt x="368798" y="368799"/>
                </a:lnTo>
                <a:lnTo>
                  <a:pt x="0" y="36879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0511" r="0" b="-20511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810323" y="6712591"/>
            <a:ext cx="3638255" cy="351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Improved Energy Efficiency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810323" y="7143159"/>
            <a:ext cx="13600805" cy="320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50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Lower power consumption is achieved by minimizing costly off-chip and on-chip data movement, which traditionally consumes more energy than computation itself.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587998" y="8104737"/>
            <a:ext cx="15111860" cy="1504055"/>
            <a:chOff x="0" y="0"/>
            <a:chExt cx="20149147" cy="200540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9050" y="19050"/>
              <a:ext cx="20110958" cy="1967230"/>
            </a:xfrm>
            <a:custGeom>
              <a:avLst/>
              <a:gdLst/>
              <a:ahLst/>
              <a:cxnLst/>
              <a:rect r="r" b="b" t="t" l="l"/>
              <a:pathLst>
                <a:path h="1967230" w="20110958">
                  <a:moveTo>
                    <a:pt x="0" y="137668"/>
                  </a:moveTo>
                  <a:cubicBezTo>
                    <a:pt x="0" y="61595"/>
                    <a:pt x="62738" y="0"/>
                    <a:pt x="140081" y="0"/>
                  </a:cubicBezTo>
                  <a:lnTo>
                    <a:pt x="19970877" y="0"/>
                  </a:lnTo>
                  <a:cubicBezTo>
                    <a:pt x="20048220" y="0"/>
                    <a:pt x="20110958" y="61595"/>
                    <a:pt x="20110958" y="137668"/>
                  </a:cubicBezTo>
                  <a:lnTo>
                    <a:pt x="20110958" y="1829562"/>
                  </a:lnTo>
                  <a:cubicBezTo>
                    <a:pt x="20110958" y="1905635"/>
                    <a:pt x="20048220" y="1967230"/>
                    <a:pt x="19970877" y="1967230"/>
                  </a:cubicBezTo>
                  <a:lnTo>
                    <a:pt x="140081" y="1967230"/>
                  </a:lnTo>
                  <a:cubicBezTo>
                    <a:pt x="62738" y="1967230"/>
                    <a:pt x="0" y="1905635"/>
                    <a:pt x="0" y="1829562"/>
                  </a:cubicBez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149058" cy="2005330"/>
            </a:xfrm>
            <a:custGeom>
              <a:avLst/>
              <a:gdLst/>
              <a:ahLst/>
              <a:cxnLst/>
              <a:rect r="r" b="b" t="t" l="l"/>
              <a:pathLst>
                <a:path h="2005330" w="20149058">
                  <a:moveTo>
                    <a:pt x="0" y="156718"/>
                  </a:moveTo>
                  <a:cubicBezTo>
                    <a:pt x="0" y="69850"/>
                    <a:pt x="71628" y="0"/>
                    <a:pt x="159131" y="0"/>
                  </a:cubicBezTo>
                  <a:lnTo>
                    <a:pt x="19989927" y="0"/>
                  </a:lnTo>
                  <a:lnTo>
                    <a:pt x="19989927" y="19050"/>
                  </a:lnTo>
                  <a:lnTo>
                    <a:pt x="19989927" y="0"/>
                  </a:lnTo>
                  <a:cubicBezTo>
                    <a:pt x="20077557" y="0"/>
                    <a:pt x="20149058" y="69850"/>
                    <a:pt x="20149058" y="156718"/>
                  </a:cubicBezTo>
                  <a:lnTo>
                    <a:pt x="20130008" y="156718"/>
                  </a:lnTo>
                  <a:lnTo>
                    <a:pt x="20149058" y="156718"/>
                  </a:lnTo>
                  <a:lnTo>
                    <a:pt x="20149058" y="1848612"/>
                  </a:lnTo>
                  <a:lnTo>
                    <a:pt x="20130008" y="1848612"/>
                  </a:lnTo>
                  <a:lnTo>
                    <a:pt x="20149058" y="1848612"/>
                  </a:lnTo>
                  <a:cubicBezTo>
                    <a:pt x="20149058" y="1935480"/>
                    <a:pt x="20077430" y="2005330"/>
                    <a:pt x="19989927" y="2005330"/>
                  </a:cubicBezTo>
                  <a:lnTo>
                    <a:pt x="19989927" y="1986280"/>
                  </a:lnTo>
                  <a:lnTo>
                    <a:pt x="19989927" y="2005330"/>
                  </a:lnTo>
                  <a:lnTo>
                    <a:pt x="159131" y="2005330"/>
                  </a:lnTo>
                  <a:lnTo>
                    <a:pt x="159131" y="1986280"/>
                  </a:lnTo>
                  <a:lnTo>
                    <a:pt x="159131" y="2005330"/>
                  </a:lnTo>
                  <a:cubicBezTo>
                    <a:pt x="71628" y="2005457"/>
                    <a:pt x="0" y="1935480"/>
                    <a:pt x="0" y="1848612"/>
                  </a:cubicBezTo>
                  <a:lnTo>
                    <a:pt x="0" y="156718"/>
                  </a:lnTo>
                  <a:lnTo>
                    <a:pt x="19050" y="156718"/>
                  </a:lnTo>
                  <a:lnTo>
                    <a:pt x="0" y="156718"/>
                  </a:lnTo>
                  <a:moveTo>
                    <a:pt x="38100" y="156718"/>
                  </a:moveTo>
                  <a:lnTo>
                    <a:pt x="38100" y="1848612"/>
                  </a:lnTo>
                  <a:lnTo>
                    <a:pt x="19050" y="1848612"/>
                  </a:lnTo>
                  <a:lnTo>
                    <a:pt x="38100" y="1848612"/>
                  </a:lnTo>
                  <a:cubicBezTo>
                    <a:pt x="38100" y="1913890"/>
                    <a:pt x="91948" y="1967230"/>
                    <a:pt x="159131" y="1967230"/>
                  </a:cubicBezTo>
                  <a:lnTo>
                    <a:pt x="19989927" y="1967230"/>
                  </a:lnTo>
                  <a:cubicBezTo>
                    <a:pt x="20057111" y="1967230"/>
                    <a:pt x="20110958" y="1913763"/>
                    <a:pt x="20110958" y="1848612"/>
                  </a:cubicBezTo>
                  <a:lnTo>
                    <a:pt x="20110958" y="156718"/>
                  </a:lnTo>
                  <a:cubicBezTo>
                    <a:pt x="20110958" y="91440"/>
                    <a:pt x="20057111" y="38100"/>
                    <a:pt x="19989927" y="38100"/>
                  </a:cubicBezTo>
                  <a:lnTo>
                    <a:pt x="159131" y="38100"/>
                  </a:lnTo>
                  <a:lnTo>
                    <a:pt x="159131" y="19050"/>
                  </a:lnTo>
                  <a:lnTo>
                    <a:pt x="159131" y="38100"/>
                  </a:lnTo>
                  <a:cubicBezTo>
                    <a:pt x="91948" y="38100"/>
                    <a:pt x="38100" y="91567"/>
                    <a:pt x="38100" y="156718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630861" y="8147599"/>
            <a:ext cx="983609" cy="1418330"/>
            <a:chOff x="0" y="0"/>
            <a:chExt cx="1311478" cy="189110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11402" cy="1891030"/>
            </a:xfrm>
            <a:custGeom>
              <a:avLst/>
              <a:gdLst/>
              <a:ahLst/>
              <a:cxnLst/>
              <a:rect r="r" b="b" t="t" l="l"/>
              <a:pathLst>
                <a:path h="1891030" w="1311402">
                  <a:moveTo>
                    <a:pt x="0" y="91948"/>
                  </a:moveTo>
                  <a:cubicBezTo>
                    <a:pt x="0" y="41148"/>
                    <a:pt x="41148" y="0"/>
                    <a:pt x="91948" y="0"/>
                  </a:cubicBezTo>
                  <a:lnTo>
                    <a:pt x="1219454" y="0"/>
                  </a:lnTo>
                  <a:cubicBezTo>
                    <a:pt x="1270254" y="0"/>
                    <a:pt x="1311402" y="41148"/>
                    <a:pt x="1311402" y="91948"/>
                  </a:cubicBezTo>
                  <a:lnTo>
                    <a:pt x="1311402" y="1799082"/>
                  </a:lnTo>
                  <a:cubicBezTo>
                    <a:pt x="1311402" y="1849882"/>
                    <a:pt x="1270254" y="1891030"/>
                    <a:pt x="1219454" y="1891030"/>
                  </a:cubicBezTo>
                  <a:lnTo>
                    <a:pt x="91948" y="1891030"/>
                  </a:lnTo>
                  <a:cubicBezTo>
                    <a:pt x="41148" y="1891030"/>
                    <a:pt x="0" y="1849882"/>
                    <a:pt x="0" y="1799082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</p:grpSp>
      <p:sp>
        <p:nvSpPr>
          <p:cNvPr name="Freeform 38" id="38" descr="preencoded.png"/>
          <p:cNvSpPr/>
          <p:nvPr/>
        </p:nvSpPr>
        <p:spPr>
          <a:xfrm flipH="false" flipV="false" rot="0">
            <a:off x="1933423" y="8672360"/>
            <a:ext cx="368798" cy="368798"/>
          </a:xfrm>
          <a:custGeom>
            <a:avLst/>
            <a:gdLst/>
            <a:ahLst/>
            <a:cxnLst/>
            <a:rect r="r" b="b" t="t" l="l"/>
            <a:pathLst>
              <a:path h="368798" w="368798">
                <a:moveTo>
                  <a:pt x="0" y="0"/>
                </a:moveTo>
                <a:lnTo>
                  <a:pt x="368798" y="0"/>
                </a:lnTo>
                <a:lnTo>
                  <a:pt x="368798" y="368799"/>
                </a:lnTo>
                <a:lnTo>
                  <a:pt x="0" y="36879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845" t="0" r="-3845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2810323" y="8383934"/>
            <a:ext cx="2732484" cy="351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7"/>
              </a:lnSpc>
            </a:pPr>
            <a:r>
              <a:rPr lang="en-US" sz="2125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Higher Throughput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810323" y="8814492"/>
            <a:ext cx="13600805" cy="320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7"/>
              </a:lnSpc>
            </a:pPr>
            <a:r>
              <a:rPr lang="en-US" sz="150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Enables massive parallel operations directly within memory arrays, significantly accelerating processing for data-intensive tasks.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9144000" cy="10287000"/>
            <a:chOff x="0" y="0"/>
            <a:chExt cx="12192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2192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219287" y="1086145"/>
            <a:ext cx="1446905" cy="608705"/>
            <a:chOff x="0" y="0"/>
            <a:chExt cx="1929206" cy="8116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29257" cy="811657"/>
            </a:xfrm>
            <a:custGeom>
              <a:avLst/>
              <a:gdLst/>
              <a:ahLst/>
              <a:cxnLst/>
              <a:rect r="r" b="b" t="t" l="l"/>
              <a:pathLst>
                <a:path h="811657" w="1929257">
                  <a:moveTo>
                    <a:pt x="0" y="144653"/>
                  </a:moveTo>
                  <a:cubicBezTo>
                    <a:pt x="0" y="64643"/>
                    <a:pt x="65405" y="0"/>
                    <a:pt x="145923" y="0"/>
                  </a:cubicBezTo>
                  <a:lnTo>
                    <a:pt x="1783334" y="0"/>
                  </a:lnTo>
                  <a:lnTo>
                    <a:pt x="1783334" y="6350"/>
                  </a:lnTo>
                  <a:lnTo>
                    <a:pt x="1783334" y="0"/>
                  </a:lnTo>
                  <a:cubicBezTo>
                    <a:pt x="1863852" y="0"/>
                    <a:pt x="1929257" y="64643"/>
                    <a:pt x="1929257" y="144653"/>
                  </a:cubicBezTo>
                  <a:lnTo>
                    <a:pt x="1922907" y="144653"/>
                  </a:lnTo>
                  <a:lnTo>
                    <a:pt x="1929257" y="144653"/>
                  </a:lnTo>
                  <a:lnTo>
                    <a:pt x="1929257" y="667004"/>
                  </a:lnTo>
                  <a:lnTo>
                    <a:pt x="1922907" y="667004"/>
                  </a:lnTo>
                  <a:lnTo>
                    <a:pt x="1929257" y="667004"/>
                  </a:lnTo>
                  <a:cubicBezTo>
                    <a:pt x="1929257" y="746887"/>
                    <a:pt x="1863852" y="811657"/>
                    <a:pt x="1783334" y="811657"/>
                  </a:cubicBezTo>
                  <a:lnTo>
                    <a:pt x="1783334" y="805307"/>
                  </a:lnTo>
                  <a:lnTo>
                    <a:pt x="1783334" y="811657"/>
                  </a:lnTo>
                  <a:lnTo>
                    <a:pt x="145923" y="811657"/>
                  </a:lnTo>
                  <a:lnTo>
                    <a:pt x="145923" y="805307"/>
                  </a:lnTo>
                  <a:lnTo>
                    <a:pt x="145923" y="811657"/>
                  </a:lnTo>
                  <a:cubicBezTo>
                    <a:pt x="65405" y="811657"/>
                    <a:pt x="0" y="746887"/>
                    <a:pt x="0" y="667004"/>
                  </a:cubicBezTo>
                  <a:lnTo>
                    <a:pt x="0" y="144653"/>
                  </a:lnTo>
                  <a:lnTo>
                    <a:pt x="6350" y="144653"/>
                  </a:lnTo>
                  <a:lnTo>
                    <a:pt x="0" y="144653"/>
                  </a:lnTo>
                  <a:moveTo>
                    <a:pt x="12700" y="144653"/>
                  </a:moveTo>
                  <a:lnTo>
                    <a:pt x="12700" y="667004"/>
                  </a:lnTo>
                  <a:lnTo>
                    <a:pt x="6350" y="667004"/>
                  </a:lnTo>
                  <a:lnTo>
                    <a:pt x="12700" y="667004"/>
                  </a:lnTo>
                  <a:cubicBezTo>
                    <a:pt x="12700" y="739775"/>
                    <a:pt x="72263" y="798957"/>
                    <a:pt x="145923" y="798957"/>
                  </a:cubicBezTo>
                  <a:lnTo>
                    <a:pt x="1783334" y="798957"/>
                  </a:lnTo>
                  <a:cubicBezTo>
                    <a:pt x="1856994" y="798957"/>
                    <a:pt x="1916557" y="739902"/>
                    <a:pt x="1916557" y="667004"/>
                  </a:cubicBezTo>
                  <a:lnTo>
                    <a:pt x="1916557" y="144653"/>
                  </a:lnTo>
                  <a:cubicBezTo>
                    <a:pt x="1916557" y="71755"/>
                    <a:pt x="1856994" y="12700"/>
                    <a:pt x="1783334" y="12700"/>
                  </a:cubicBezTo>
                  <a:lnTo>
                    <a:pt x="145923" y="12700"/>
                  </a:lnTo>
                  <a:lnTo>
                    <a:pt x="145923" y="6350"/>
                  </a:lnTo>
                  <a:lnTo>
                    <a:pt x="145923" y="12700"/>
                  </a:lnTo>
                  <a:cubicBezTo>
                    <a:pt x="72263" y="12700"/>
                    <a:pt x="12700" y="71755"/>
                    <a:pt x="12700" y="144653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418712" y="1126331"/>
            <a:ext cx="1048045" cy="46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A95B95"/>
                </a:solidFill>
                <a:latin typeface="Mukta Light"/>
                <a:ea typeface="Mukta Light"/>
                <a:cs typeface="Mukta Light"/>
                <a:sym typeface="Mukta Light"/>
              </a:rPr>
              <a:t>SOLUTION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24049" y="1784899"/>
            <a:ext cx="685800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Proposed Solution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224049" y="3133573"/>
            <a:ext cx="1543050" cy="2020786"/>
            <a:chOff x="0" y="0"/>
            <a:chExt cx="2057400" cy="2694381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2057400" cy="2694432"/>
            </a:xfrm>
            <a:custGeom>
              <a:avLst/>
              <a:gdLst/>
              <a:ahLst/>
              <a:cxnLst/>
              <a:rect r="r" b="b" t="t" l="l"/>
              <a:pathLst>
                <a:path h="2694432" w="2057400">
                  <a:moveTo>
                    <a:pt x="0" y="0"/>
                  </a:moveTo>
                  <a:lnTo>
                    <a:pt x="2057400" y="0"/>
                  </a:lnTo>
                  <a:lnTo>
                    <a:pt x="2057400" y="2694432"/>
                  </a:lnTo>
                  <a:lnTo>
                    <a:pt x="0" y="2694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7" t="0" r="-36" b="1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075614" y="3432572"/>
            <a:ext cx="3429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PIM Module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75614" y="3989184"/>
            <a:ext cx="5132337" cy="85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A dedicated </a:t>
            </a:r>
            <a:r>
              <a:rPr lang="en-US" sz="1937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Processing-In-Memory architecture</a:t>
            </a:r>
            <a:r>
              <a:rPr lang="en-US" sz="193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integrated with memory.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224049" y="5154368"/>
            <a:ext cx="1543050" cy="2020786"/>
            <a:chOff x="0" y="0"/>
            <a:chExt cx="2057400" cy="2694381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2057400" cy="2694432"/>
            </a:xfrm>
            <a:custGeom>
              <a:avLst/>
              <a:gdLst/>
              <a:ahLst/>
              <a:cxnLst/>
              <a:rect r="r" b="b" t="t" l="l"/>
              <a:pathLst>
                <a:path h="2694432" w="2057400">
                  <a:moveTo>
                    <a:pt x="0" y="0"/>
                  </a:moveTo>
                  <a:lnTo>
                    <a:pt x="2057400" y="0"/>
                  </a:lnTo>
                  <a:lnTo>
                    <a:pt x="2057400" y="2694432"/>
                  </a:lnTo>
                  <a:lnTo>
                    <a:pt x="0" y="2694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7" t="0" r="-36" b="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075614" y="5453358"/>
            <a:ext cx="3429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Matrix Operations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75614" y="6009980"/>
            <a:ext cx="5132337" cy="85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Matrix–vector multiplication (core operation for AI and DSP workloads).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24049" y="7175154"/>
            <a:ext cx="1543050" cy="2020786"/>
            <a:chOff x="0" y="0"/>
            <a:chExt cx="2057400" cy="2694381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2057400" cy="2694432"/>
            </a:xfrm>
            <a:custGeom>
              <a:avLst/>
              <a:gdLst/>
              <a:ahLst/>
              <a:cxnLst/>
              <a:rect r="r" b="b" t="t" l="l"/>
              <a:pathLst>
                <a:path h="2694432" w="2057400">
                  <a:moveTo>
                    <a:pt x="0" y="0"/>
                  </a:moveTo>
                  <a:lnTo>
                    <a:pt x="2057400" y="0"/>
                  </a:lnTo>
                  <a:lnTo>
                    <a:pt x="2057400" y="2694432"/>
                  </a:lnTo>
                  <a:lnTo>
                    <a:pt x="0" y="2694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7" t="0" r="-36" b="1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075614" y="7474153"/>
            <a:ext cx="346948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Analog Computation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75614" y="8030766"/>
            <a:ext cx="5132337" cy="85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93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Computation implemented using a </a:t>
            </a:r>
            <a:r>
              <a:rPr lang="en-US" sz="1937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resistive crossbar array</a:t>
            </a:r>
            <a:r>
              <a:rPr lang="en-US" sz="1937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8846" y="861717"/>
            <a:ext cx="950119" cy="39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A95B95"/>
                </a:solidFill>
                <a:latin typeface="Mukta Light"/>
                <a:ea typeface="Mukta Light"/>
                <a:cs typeface="Mukta Light"/>
                <a:sym typeface="Mukta Light"/>
              </a:rPr>
              <a:t>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8846" y="1426073"/>
            <a:ext cx="7761389" cy="79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How  Computation Works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082205" y="2602116"/>
            <a:ext cx="10123589" cy="4365574"/>
            <a:chOff x="0" y="0"/>
            <a:chExt cx="13498119" cy="582076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3498068" cy="5820791"/>
            </a:xfrm>
            <a:custGeom>
              <a:avLst/>
              <a:gdLst/>
              <a:ahLst/>
              <a:cxnLst/>
              <a:rect r="r" b="b" t="t" l="l"/>
              <a:pathLst>
                <a:path h="5820791" w="13498068">
                  <a:moveTo>
                    <a:pt x="0" y="0"/>
                  </a:moveTo>
                  <a:lnTo>
                    <a:pt x="13498068" y="0"/>
                  </a:lnTo>
                  <a:lnTo>
                    <a:pt x="13498068" y="5820791"/>
                  </a:lnTo>
                  <a:lnTo>
                    <a:pt x="0" y="5820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3" t="0" r="-43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763367" y="6146235"/>
            <a:ext cx="2041541" cy="264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 b="true">
                <a:solidFill>
                  <a:srgbClr val="FFFFFF"/>
                </a:solidFill>
                <a:latin typeface="Prompt Medium"/>
                <a:ea typeface="Prompt Medium"/>
                <a:cs typeface="Prompt Medium"/>
                <a:sym typeface="Prompt Medium"/>
              </a:rPr>
              <a:t>Add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63367" y="5135670"/>
            <a:ext cx="2041541" cy="264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 b="true">
                <a:solidFill>
                  <a:srgbClr val="FFFFFF"/>
                </a:solidFill>
                <a:latin typeface="Prompt Medium"/>
                <a:ea typeface="Prompt Medium"/>
                <a:cs typeface="Prompt Medium"/>
                <a:sym typeface="Prompt Medium"/>
              </a:rPr>
              <a:t>Multiply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63367" y="4135317"/>
            <a:ext cx="2041541" cy="264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 b="true">
                <a:solidFill>
                  <a:srgbClr val="FFFFFF"/>
                </a:solidFill>
                <a:latin typeface="Prompt Medium"/>
                <a:ea typeface="Prompt Medium"/>
                <a:cs typeface="Prompt Medium"/>
                <a:sym typeface="Prompt Medium"/>
              </a:rPr>
              <a:t>Store Weights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763367" y="3124762"/>
            <a:ext cx="2041541" cy="2647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00"/>
              </a:lnSpc>
            </a:pPr>
            <a:r>
              <a:rPr lang="en-US" sz="1562" b="true">
                <a:solidFill>
                  <a:srgbClr val="FFFFFF"/>
                </a:solidFill>
                <a:latin typeface="Prompt Medium"/>
                <a:ea typeface="Prompt Medium"/>
                <a:cs typeface="Prompt Medium"/>
                <a:sym typeface="Prompt Medium"/>
              </a:rPr>
              <a:t>Apply Inputs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59796" y="7233647"/>
            <a:ext cx="5312569" cy="2237337"/>
            <a:chOff x="0" y="0"/>
            <a:chExt cx="7083425" cy="29831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5400" y="25400"/>
              <a:ext cx="7032625" cy="2932303"/>
            </a:xfrm>
            <a:custGeom>
              <a:avLst/>
              <a:gdLst/>
              <a:ahLst/>
              <a:cxnLst/>
              <a:rect r="r" b="b" t="t" l="l"/>
              <a:pathLst>
                <a:path h="2932303" w="7032625">
                  <a:moveTo>
                    <a:pt x="0" y="156591"/>
                  </a:moveTo>
                  <a:cubicBezTo>
                    <a:pt x="0" y="70104"/>
                    <a:pt x="70866" y="0"/>
                    <a:pt x="158242" y="0"/>
                  </a:cubicBezTo>
                  <a:lnTo>
                    <a:pt x="6874383" y="0"/>
                  </a:lnTo>
                  <a:cubicBezTo>
                    <a:pt x="6961759" y="0"/>
                    <a:pt x="7032625" y="70104"/>
                    <a:pt x="7032625" y="156591"/>
                  </a:cubicBezTo>
                  <a:lnTo>
                    <a:pt x="7032625" y="2775712"/>
                  </a:lnTo>
                  <a:cubicBezTo>
                    <a:pt x="7032625" y="2862199"/>
                    <a:pt x="6961759" y="2932303"/>
                    <a:pt x="6874383" y="2932303"/>
                  </a:cubicBezTo>
                  <a:lnTo>
                    <a:pt x="158242" y="2932303"/>
                  </a:lnTo>
                  <a:cubicBezTo>
                    <a:pt x="70866" y="2932303"/>
                    <a:pt x="0" y="2862199"/>
                    <a:pt x="0" y="2775712"/>
                  </a:cubicBez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83425" cy="2983103"/>
            </a:xfrm>
            <a:custGeom>
              <a:avLst/>
              <a:gdLst/>
              <a:ahLst/>
              <a:cxnLst/>
              <a:rect r="r" b="b" t="t" l="l"/>
              <a:pathLst>
                <a:path h="2983103" w="7083425">
                  <a:moveTo>
                    <a:pt x="0" y="181991"/>
                  </a:moveTo>
                  <a:cubicBezTo>
                    <a:pt x="0" y="81280"/>
                    <a:pt x="82423" y="0"/>
                    <a:pt x="183642" y="0"/>
                  </a:cubicBezTo>
                  <a:lnTo>
                    <a:pt x="6899783" y="0"/>
                  </a:lnTo>
                  <a:lnTo>
                    <a:pt x="6899783" y="25400"/>
                  </a:lnTo>
                  <a:lnTo>
                    <a:pt x="6899783" y="0"/>
                  </a:lnTo>
                  <a:cubicBezTo>
                    <a:pt x="7000875" y="0"/>
                    <a:pt x="7083425" y="81280"/>
                    <a:pt x="7083425" y="181991"/>
                  </a:cubicBezTo>
                  <a:lnTo>
                    <a:pt x="7058025" y="181991"/>
                  </a:lnTo>
                  <a:lnTo>
                    <a:pt x="7083425" y="181991"/>
                  </a:lnTo>
                  <a:lnTo>
                    <a:pt x="7083425" y="2801112"/>
                  </a:lnTo>
                  <a:lnTo>
                    <a:pt x="7058025" y="2801112"/>
                  </a:lnTo>
                  <a:lnTo>
                    <a:pt x="7083425" y="2801112"/>
                  </a:lnTo>
                  <a:cubicBezTo>
                    <a:pt x="7083425" y="2901823"/>
                    <a:pt x="7001001" y="2983103"/>
                    <a:pt x="6899783" y="2983103"/>
                  </a:cubicBezTo>
                  <a:lnTo>
                    <a:pt x="6899783" y="2957703"/>
                  </a:lnTo>
                  <a:lnTo>
                    <a:pt x="6899783" y="2983103"/>
                  </a:lnTo>
                  <a:lnTo>
                    <a:pt x="183642" y="2983103"/>
                  </a:lnTo>
                  <a:lnTo>
                    <a:pt x="183642" y="2957703"/>
                  </a:lnTo>
                  <a:lnTo>
                    <a:pt x="183642" y="2983103"/>
                  </a:lnTo>
                  <a:cubicBezTo>
                    <a:pt x="82423" y="2983103"/>
                    <a:pt x="0" y="2901823"/>
                    <a:pt x="0" y="2801112"/>
                  </a:cubicBezTo>
                  <a:lnTo>
                    <a:pt x="0" y="181991"/>
                  </a:lnTo>
                  <a:lnTo>
                    <a:pt x="25400" y="181991"/>
                  </a:lnTo>
                  <a:lnTo>
                    <a:pt x="0" y="181991"/>
                  </a:lnTo>
                  <a:moveTo>
                    <a:pt x="50800" y="181991"/>
                  </a:moveTo>
                  <a:lnTo>
                    <a:pt x="50800" y="2801112"/>
                  </a:lnTo>
                  <a:lnTo>
                    <a:pt x="25400" y="2801112"/>
                  </a:lnTo>
                  <a:lnTo>
                    <a:pt x="50800" y="2801112"/>
                  </a:lnTo>
                  <a:cubicBezTo>
                    <a:pt x="50800" y="2873375"/>
                    <a:pt x="109982" y="2932303"/>
                    <a:pt x="183642" y="2932303"/>
                  </a:cubicBezTo>
                  <a:lnTo>
                    <a:pt x="6899783" y="2932303"/>
                  </a:lnTo>
                  <a:cubicBezTo>
                    <a:pt x="6973315" y="2932303"/>
                    <a:pt x="7032625" y="2873375"/>
                    <a:pt x="7032625" y="2801112"/>
                  </a:cubicBezTo>
                  <a:lnTo>
                    <a:pt x="7032625" y="181991"/>
                  </a:lnTo>
                  <a:cubicBezTo>
                    <a:pt x="7032625" y="109728"/>
                    <a:pt x="6973443" y="50800"/>
                    <a:pt x="6899783" y="50800"/>
                  </a:cubicBezTo>
                  <a:lnTo>
                    <a:pt x="183642" y="50800"/>
                  </a:lnTo>
                  <a:lnTo>
                    <a:pt x="183642" y="25400"/>
                  </a:lnTo>
                  <a:lnTo>
                    <a:pt x="183642" y="50800"/>
                  </a:lnTo>
                  <a:cubicBezTo>
                    <a:pt x="109982" y="50800"/>
                    <a:pt x="50800" y="109728"/>
                    <a:pt x="50800" y="181991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96591" y="7570441"/>
            <a:ext cx="3107531" cy="38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Inputs &amp; Weights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6591" y="8053683"/>
            <a:ext cx="4638970" cy="1080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Input signals are </a:t>
            </a:r>
            <a:r>
              <a:rPr lang="en-US" sz="1750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analog voltages</a:t>
            </a:r>
            <a:r>
              <a:rPr lang="en-US" sz="175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, and matrix weights are stored as </a:t>
            </a:r>
            <a:r>
              <a:rPr lang="en-US" sz="1750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programmable resistances</a:t>
            </a:r>
            <a:r>
              <a:rPr lang="en-US" sz="175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in the crossbar array.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487716" y="7233647"/>
            <a:ext cx="5312569" cy="2237337"/>
            <a:chOff x="0" y="0"/>
            <a:chExt cx="7083425" cy="298311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25400" y="25400"/>
              <a:ext cx="7032625" cy="2932303"/>
            </a:xfrm>
            <a:custGeom>
              <a:avLst/>
              <a:gdLst/>
              <a:ahLst/>
              <a:cxnLst/>
              <a:rect r="r" b="b" t="t" l="l"/>
              <a:pathLst>
                <a:path h="2932303" w="7032625">
                  <a:moveTo>
                    <a:pt x="0" y="156591"/>
                  </a:moveTo>
                  <a:cubicBezTo>
                    <a:pt x="0" y="70104"/>
                    <a:pt x="70866" y="0"/>
                    <a:pt x="158242" y="0"/>
                  </a:cubicBezTo>
                  <a:lnTo>
                    <a:pt x="6874383" y="0"/>
                  </a:lnTo>
                  <a:cubicBezTo>
                    <a:pt x="6961759" y="0"/>
                    <a:pt x="7032625" y="70104"/>
                    <a:pt x="7032625" y="156591"/>
                  </a:cubicBezTo>
                  <a:lnTo>
                    <a:pt x="7032625" y="2775712"/>
                  </a:lnTo>
                  <a:cubicBezTo>
                    <a:pt x="7032625" y="2862199"/>
                    <a:pt x="6961759" y="2932303"/>
                    <a:pt x="6874383" y="2932303"/>
                  </a:cubicBezTo>
                  <a:lnTo>
                    <a:pt x="158242" y="2932303"/>
                  </a:lnTo>
                  <a:cubicBezTo>
                    <a:pt x="70866" y="2932303"/>
                    <a:pt x="0" y="2862199"/>
                    <a:pt x="0" y="2775712"/>
                  </a:cubicBez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83425" cy="2983103"/>
            </a:xfrm>
            <a:custGeom>
              <a:avLst/>
              <a:gdLst/>
              <a:ahLst/>
              <a:cxnLst/>
              <a:rect r="r" b="b" t="t" l="l"/>
              <a:pathLst>
                <a:path h="2983103" w="7083425">
                  <a:moveTo>
                    <a:pt x="0" y="181991"/>
                  </a:moveTo>
                  <a:cubicBezTo>
                    <a:pt x="0" y="81280"/>
                    <a:pt x="82423" y="0"/>
                    <a:pt x="183642" y="0"/>
                  </a:cubicBezTo>
                  <a:lnTo>
                    <a:pt x="6899783" y="0"/>
                  </a:lnTo>
                  <a:lnTo>
                    <a:pt x="6899783" y="25400"/>
                  </a:lnTo>
                  <a:lnTo>
                    <a:pt x="6899783" y="0"/>
                  </a:lnTo>
                  <a:cubicBezTo>
                    <a:pt x="7000875" y="0"/>
                    <a:pt x="7083425" y="81280"/>
                    <a:pt x="7083425" y="181991"/>
                  </a:cubicBezTo>
                  <a:lnTo>
                    <a:pt x="7058025" y="181991"/>
                  </a:lnTo>
                  <a:lnTo>
                    <a:pt x="7083425" y="181991"/>
                  </a:lnTo>
                  <a:lnTo>
                    <a:pt x="7083425" y="2801112"/>
                  </a:lnTo>
                  <a:lnTo>
                    <a:pt x="7058025" y="2801112"/>
                  </a:lnTo>
                  <a:lnTo>
                    <a:pt x="7083425" y="2801112"/>
                  </a:lnTo>
                  <a:cubicBezTo>
                    <a:pt x="7083425" y="2901823"/>
                    <a:pt x="7001001" y="2983103"/>
                    <a:pt x="6899783" y="2983103"/>
                  </a:cubicBezTo>
                  <a:lnTo>
                    <a:pt x="6899783" y="2957703"/>
                  </a:lnTo>
                  <a:lnTo>
                    <a:pt x="6899783" y="2983103"/>
                  </a:lnTo>
                  <a:lnTo>
                    <a:pt x="183642" y="2983103"/>
                  </a:lnTo>
                  <a:lnTo>
                    <a:pt x="183642" y="2957703"/>
                  </a:lnTo>
                  <a:lnTo>
                    <a:pt x="183642" y="2983103"/>
                  </a:lnTo>
                  <a:cubicBezTo>
                    <a:pt x="82423" y="2983103"/>
                    <a:pt x="0" y="2901823"/>
                    <a:pt x="0" y="2801112"/>
                  </a:cubicBezTo>
                  <a:lnTo>
                    <a:pt x="0" y="181991"/>
                  </a:lnTo>
                  <a:lnTo>
                    <a:pt x="25400" y="181991"/>
                  </a:lnTo>
                  <a:lnTo>
                    <a:pt x="0" y="181991"/>
                  </a:lnTo>
                  <a:moveTo>
                    <a:pt x="50800" y="181991"/>
                  </a:moveTo>
                  <a:lnTo>
                    <a:pt x="50800" y="2801112"/>
                  </a:lnTo>
                  <a:lnTo>
                    <a:pt x="25400" y="2801112"/>
                  </a:lnTo>
                  <a:lnTo>
                    <a:pt x="50800" y="2801112"/>
                  </a:lnTo>
                  <a:cubicBezTo>
                    <a:pt x="50800" y="2873375"/>
                    <a:pt x="109982" y="2932303"/>
                    <a:pt x="183642" y="2932303"/>
                  </a:cubicBezTo>
                  <a:lnTo>
                    <a:pt x="6899783" y="2932303"/>
                  </a:lnTo>
                  <a:cubicBezTo>
                    <a:pt x="6973315" y="2932303"/>
                    <a:pt x="7032625" y="2873375"/>
                    <a:pt x="7032625" y="2801112"/>
                  </a:cubicBezTo>
                  <a:lnTo>
                    <a:pt x="7032625" y="181991"/>
                  </a:lnTo>
                  <a:cubicBezTo>
                    <a:pt x="7032625" y="109728"/>
                    <a:pt x="6973443" y="50800"/>
                    <a:pt x="6899783" y="50800"/>
                  </a:cubicBezTo>
                  <a:lnTo>
                    <a:pt x="183642" y="50800"/>
                  </a:lnTo>
                  <a:lnTo>
                    <a:pt x="183642" y="25400"/>
                  </a:lnTo>
                  <a:lnTo>
                    <a:pt x="183642" y="50800"/>
                  </a:lnTo>
                  <a:cubicBezTo>
                    <a:pt x="109982" y="50800"/>
                    <a:pt x="50800" y="109728"/>
                    <a:pt x="50800" y="181991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824510" y="7570441"/>
            <a:ext cx="3107531" cy="38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Core Computation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24510" y="8053683"/>
            <a:ext cx="4638970" cy="1080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Ohm's Law</a:t>
            </a:r>
            <a:r>
              <a:rPr lang="en-US" sz="175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performs multiplication at each cross-point, while </a:t>
            </a:r>
            <a:r>
              <a:rPr lang="en-US" sz="1750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Kirchhoff's Law</a:t>
            </a:r>
            <a:r>
              <a:rPr lang="en-US" sz="175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naturally sums currents for dot-product results.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2015635" y="7233647"/>
            <a:ext cx="5312569" cy="2237337"/>
            <a:chOff x="0" y="0"/>
            <a:chExt cx="7083425" cy="29831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25400" y="25400"/>
              <a:ext cx="7032625" cy="2932303"/>
            </a:xfrm>
            <a:custGeom>
              <a:avLst/>
              <a:gdLst/>
              <a:ahLst/>
              <a:cxnLst/>
              <a:rect r="r" b="b" t="t" l="l"/>
              <a:pathLst>
                <a:path h="2932303" w="7032625">
                  <a:moveTo>
                    <a:pt x="0" y="156591"/>
                  </a:moveTo>
                  <a:cubicBezTo>
                    <a:pt x="0" y="70104"/>
                    <a:pt x="70866" y="0"/>
                    <a:pt x="158242" y="0"/>
                  </a:cubicBezTo>
                  <a:lnTo>
                    <a:pt x="6874383" y="0"/>
                  </a:lnTo>
                  <a:cubicBezTo>
                    <a:pt x="6961759" y="0"/>
                    <a:pt x="7032625" y="70104"/>
                    <a:pt x="7032625" y="156591"/>
                  </a:cubicBezTo>
                  <a:lnTo>
                    <a:pt x="7032625" y="2775712"/>
                  </a:lnTo>
                  <a:cubicBezTo>
                    <a:pt x="7032625" y="2862199"/>
                    <a:pt x="6961759" y="2932303"/>
                    <a:pt x="6874383" y="2932303"/>
                  </a:cubicBezTo>
                  <a:lnTo>
                    <a:pt x="158242" y="2932303"/>
                  </a:lnTo>
                  <a:cubicBezTo>
                    <a:pt x="70866" y="2932303"/>
                    <a:pt x="0" y="2862199"/>
                    <a:pt x="0" y="2775712"/>
                  </a:cubicBez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83425" cy="2983103"/>
            </a:xfrm>
            <a:custGeom>
              <a:avLst/>
              <a:gdLst/>
              <a:ahLst/>
              <a:cxnLst/>
              <a:rect r="r" b="b" t="t" l="l"/>
              <a:pathLst>
                <a:path h="2983103" w="7083425">
                  <a:moveTo>
                    <a:pt x="0" y="181991"/>
                  </a:moveTo>
                  <a:cubicBezTo>
                    <a:pt x="0" y="81280"/>
                    <a:pt x="82423" y="0"/>
                    <a:pt x="183642" y="0"/>
                  </a:cubicBezTo>
                  <a:lnTo>
                    <a:pt x="6899783" y="0"/>
                  </a:lnTo>
                  <a:lnTo>
                    <a:pt x="6899783" y="25400"/>
                  </a:lnTo>
                  <a:lnTo>
                    <a:pt x="6899783" y="0"/>
                  </a:lnTo>
                  <a:cubicBezTo>
                    <a:pt x="7000875" y="0"/>
                    <a:pt x="7083425" y="81280"/>
                    <a:pt x="7083425" y="181991"/>
                  </a:cubicBezTo>
                  <a:lnTo>
                    <a:pt x="7058025" y="181991"/>
                  </a:lnTo>
                  <a:lnTo>
                    <a:pt x="7083425" y="181991"/>
                  </a:lnTo>
                  <a:lnTo>
                    <a:pt x="7083425" y="2801112"/>
                  </a:lnTo>
                  <a:lnTo>
                    <a:pt x="7058025" y="2801112"/>
                  </a:lnTo>
                  <a:lnTo>
                    <a:pt x="7083425" y="2801112"/>
                  </a:lnTo>
                  <a:cubicBezTo>
                    <a:pt x="7083425" y="2901823"/>
                    <a:pt x="7001001" y="2983103"/>
                    <a:pt x="6899783" y="2983103"/>
                  </a:cubicBezTo>
                  <a:lnTo>
                    <a:pt x="6899783" y="2957703"/>
                  </a:lnTo>
                  <a:lnTo>
                    <a:pt x="6899783" y="2983103"/>
                  </a:lnTo>
                  <a:lnTo>
                    <a:pt x="183642" y="2983103"/>
                  </a:lnTo>
                  <a:lnTo>
                    <a:pt x="183642" y="2957703"/>
                  </a:lnTo>
                  <a:lnTo>
                    <a:pt x="183642" y="2983103"/>
                  </a:lnTo>
                  <a:cubicBezTo>
                    <a:pt x="82423" y="2983103"/>
                    <a:pt x="0" y="2901823"/>
                    <a:pt x="0" y="2801112"/>
                  </a:cubicBezTo>
                  <a:lnTo>
                    <a:pt x="0" y="181991"/>
                  </a:lnTo>
                  <a:lnTo>
                    <a:pt x="25400" y="181991"/>
                  </a:lnTo>
                  <a:lnTo>
                    <a:pt x="0" y="181991"/>
                  </a:lnTo>
                  <a:moveTo>
                    <a:pt x="50800" y="181991"/>
                  </a:moveTo>
                  <a:lnTo>
                    <a:pt x="50800" y="2801112"/>
                  </a:lnTo>
                  <a:lnTo>
                    <a:pt x="25400" y="2801112"/>
                  </a:lnTo>
                  <a:lnTo>
                    <a:pt x="50800" y="2801112"/>
                  </a:lnTo>
                  <a:cubicBezTo>
                    <a:pt x="50800" y="2873375"/>
                    <a:pt x="109982" y="2932303"/>
                    <a:pt x="183642" y="2932303"/>
                  </a:cubicBezTo>
                  <a:lnTo>
                    <a:pt x="6899783" y="2932303"/>
                  </a:lnTo>
                  <a:cubicBezTo>
                    <a:pt x="6973315" y="2932303"/>
                    <a:pt x="7032625" y="2873375"/>
                    <a:pt x="7032625" y="2801112"/>
                  </a:cubicBezTo>
                  <a:lnTo>
                    <a:pt x="7032625" y="181991"/>
                  </a:lnTo>
                  <a:cubicBezTo>
                    <a:pt x="7032625" y="109728"/>
                    <a:pt x="6973443" y="50800"/>
                    <a:pt x="6899783" y="50800"/>
                  </a:cubicBezTo>
                  <a:lnTo>
                    <a:pt x="183642" y="50800"/>
                  </a:lnTo>
                  <a:lnTo>
                    <a:pt x="183642" y="25400"/>
                  </a:lnTo>
                  <a:lnTo>
                    <a:pt x="183642" y="50800"/>
                  </a:lnTo>
                  <a:cubicBezTo>
                    <a:pt x="109982" y="50800"/>
                    <a:pt x="50800" y="109728"/>
                    <a:pt x="50800" y="181991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2352439" y="7570441"/>
            <a:ext cx="3107531" cy="38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37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Parallel Efficiency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52439" y="8053683"/>
            <a:ext cx="4638970" cy="1080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The array's architecture enables </a:t>
            </a:r>
            <a:r>
              <a:rPr lang="en-US" sz="1750" b="true">
                <a:solidFill>
                  <a:srgbClr val="DAD8E9"/>
                </a:solidFill>
                <a:latin typeface="Mukta Bold"/>
                <a:ea typeface="Mukta Bold"/>
                <a:cs typeface="Mukta Bold"/>
                <a:sym typeface="Mukta Bold"/>
              </a:rPr>
              <a:t>simultaneous operation</a:t>
            </a:r>
            <a:r>
              <a:rPr lang="en-US" sz="1750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 across all rows and columns, facilitating highly parallel computation.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9443" y="897141"/>
            <a:ext cx="721223" cy="434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1812">
                <a:solidFill>
                  <a:srgbClr val="A95B95"/>
                </a:solidFill>
                <a:latin typeface="Mukta Light"/>
                <a:ea typeface="Mukta Light"/>
                <a:cs typeface="Mukta Light"/>
                <a:sym typeface="Mukta Light"/>
              </a:rPr>
              <a:t>IMPACT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9443" y="1512541"/>
            <a:ext cx="13941923" cy="836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Why This Matters: Driving Future Innovation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1029443" y="2769098"/>
            <a:ext cx="735359" cy="735359"/>
          </a:xfrm>
          <a:custGeom>
            <a:avLst/>
            <a:gdLst/>
            <a:ahLst/>
            <a:cxnLst/>
            <a:rect r="r" b="b" t="t" l="l"/>
            <a:pathLst>
              <a:path h="735359" w="735359">
                <a:moveTo>
                  <a:pt x="0" y="0"/>
                </a:moveTo>
                <a:lnTo>
                  <a:pt x="735359" y="0"/>
                </a:lnTo>
                <a:lnTo>
                  <a:pt x="735359" y="735359"/>
                </a:lnTo>
                <a:lnTo>
                  <a:pt x="0" y="7353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41" t="0" r="-641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9443" y="3845271"/>
            <a:ext cx="3268266" cy="41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AI &amp; Edge Devices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9443" y="4364831"/>
            <a:ext cx="7939383" cy="1444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31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PIM addresses the critical need for energy-efficient AI computation in resource-constrained edge environments, enabling advanced processing closer to the data source.</a:t>
            </a:r>
          </a:p>
        </p:txBody>
      </p:sp>
      <p:sp>
        <p:nvSpPr>
          <p:cNvPr name="Freeform 11" id="11" descr="preencoded.png"/>
          <p:cNvSpPr/>
          <p:nvPr/>
        </p:nvSpPr>
        <p:spPr>
          <a:xfrm flipH="false" flipV="false" rot="0">
            <a:off x="9319174" y="2769098"/>
            <a:ext cx="735359" cy="735359"/>
          </a:xfrm>
          <a:custGeom>
            <a:avLst/>
            <a:gdLst/>
            <a:ahLst/>
            <a:cxnLst/>
            <a:rect r="r" b="b" t="t" l="l"/>
            <a:pathLst>
              <a:path h="735359" w="735359">
                <a:moveTo>
                  <a:pt x="0" y="0"/>
                </a:moveTo>
                <a:lnTo>
                  <a:pt x="735359" y="0"/>
                </a:lnTo>
                <a:lnTo>
                  <a:pt x="735359" y="735359"/>
                </a:lnTo>
                <a:lnTo>
                  <a:pt x="0" y="7353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923" r="0" b="-1923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319174" y="3845271"/>
            <a:ext cx="4469016" cy="41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Real-Time Signal Processing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19174" y="4364831"/>
            <a:ext cx="7939383" cy="1444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31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Achieve the high throughput and ultra-low latency required for demanding real-time applications such as radar, sonar, and advanced medical diagnostics.</a:t>
            </a:r>
          </a:p>
        </p:txBody>
      </p:sp>
      <p:sp>
        <p:nvSpPr>
          <p:cNvPr name="Freeform 14" id="14" descr="preencoded.png"/>
          <p:cNvSpPr/>
          <p:nvPr/>
        </p:nvSpPr>
        <p:spPr>
          <a:xfrm flipH="false" flipV="false" rot="0">
            <a:off x="1029443" y="6370434"/>
            <a:ext cx="735359" cy="735359"/>
          </a:xfrm>
          <a:custGeom>
            <a:avLst/>
            <a:gdLst/>
            <a:ahLst/>
            <a:cxnLst/>
            <a:rect r="r" b="b" t="t" l="l"/>
            <a:pathLst>
              <a:path h="735359" w="735359">
                <a:moveTo>
                  <a:pt x="0" y="0"/>
                </a:moveTo>
                <a:lnTo>
                  <a:pt x="735359" y="0"/>
                </a:lnTo>
                <a:lnTo>
                  <a:pt x="735359" y="735359"/>
                </a:lnTo>
                <a:lnTo>
                  <a:pt x="0" y="7353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486" t="0" r="-4488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9443" y="7446616"/>
            <a:ext cx="3424980" cy="41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Scalable Architecture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9443" y="7966177"/>
            <a:ext cx="7939383" cy="1444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31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PIM offers a scalable and sustainable path forward for future data-centric computing architectures, overcoming the limitations of traditional Von Neumann systems.</a:t>
            </a:r>
          </a:p>
        </p:txBody>
      </p:sp>
      <p:sp>
        <p:nvSpPr>
          <p:cNvPr name="Freeform 17" id="17" descr="preencoded.png"/>
          <p:cNvSpPr/>
          <p:nvPr/>
        </p:nvSpPr>
        <p:spPr>
          <a:xfrm flipH="false" flipV="false" rot="0">
            <a:off x="9319174" y="6370434"/>
            <a:ext cx="735359" cy="735359"/>
          </a:xfrm>
          <a:custGeom>
            <a:avLst/>
            <a:gdLst/>
            <a:ahLst/>
            <a:cxnLst/>
            <a:rect r="r" b="b" t="t" l="l"/>
            <a:pathLst>
              <a:path h="735359" w="735359">
                <a:moveTo>
                  <a:pt x="0" y="0"/>
                </a:moveTo>
                <a:lnTo>
                  <a:pt x="735359" y="0"/>
                </a:lnTo>
                <a:lnTo>
                  <a:pt x="735359" y="735359"/>
                </a:lnTo>
                <a:lnTo>
                  <a:pt x="0" y="73535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319174" y="7446616"/>
            <a:ext cx="3699720" cy="418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System-Level Efficiency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19174" y="7966177"/>
            <a:ext cx="7939383" cy="1444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31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Significantly reduces memory bandwidth pressure and enhances overall system efficiency, leading to faster processing and lower operational costs across various applications.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0C23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10841" y="797566"/>
            <a:ext cx="8131226" cy="755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625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Current Status &amp; Next Steps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0841" y="2103987"/>
            <a:ext cx="3536156" cy="46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Hackathon Scope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10841" y="2962199"/>
            <a:ext cx="132607" cy="132607"/>
            <a:chOff x="0" y="0"/>
            <a:chExt cx="176809" cy="1768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6784" cy="176784"/>
            </a:xfrm>
            <a:custGeom>
              <a:avLst/>
              <a:gdLst/>
              <a:ahLst/>
              <a:cxnLst/>
              <a:rect r="r" b="b" t="t" l="l"/>
              <a:pathLst>
                <a:path h="176784" w="176784">
                  <a:moveTo>
                    <a:pt x="0" y="88392"/>
                  </a:moveTo>
                  <a:cubicBezTo>
                    <a:pt x="0" y="39624"/>
                    <a:pt x="39624" y="0"/>
                    <a:pt x="88392" y="0"/>
                  </a:cubicBezTo>
                  <a:cubicBezTo>
                    <a:pt x="137160" y="0"/>
                    <a:pt x="176784" y="39624"/>
                    <a:pt x="176784" y="88392"/>
                  </a:cubicBezTo>
                  <a:cubicBezTo>
                    <a:pt x="176784" y="137160"/>
                    <a:pt x="137160" y="176784"/>
                    <a:pt x="88392" y="176784"/>
                  </a:cubicBezTo>
                  <a:cubicBezTo>
                    <a:pt x="39624" y="176784"/>
                    <a:pt x="0" y="137287"/>
                    <a:pt x="0" y="88392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71305" y="2811809"/>
            <a:ext cx="4494314" cy="37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Block-level architecture design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10841" y="3786264"/>
            <a:ext cx="132607" cy="132607"/>
            <a:chOff x="0" y="0"/>
            <a:chExt cx="176809" cy="1768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6784" cy="176784"/>
            </a:xfrm>
            <a:custGeom>
              <a:avLst/>
              <a:gdLst/>
              <a:ahLst/>
              <a:cxnLst/>
              <a:rect r="r" b="b" t="t" l="l"/>
              <a:pathLst>
                <a:path h="176784" w="176784">
                  <a:moveTo>
                    <a:pt x="0" y="88392"/>
                  </a:moveTo>
                  <a:cubicBezTo>
                    <a:pt x="0" y="39624"/>
                    <a:pt x="39624" y="0"/>
                    <a:pt x="88392" y="0"/>
                  </a:cubicBezTo>
                  <a:cubicBezTo>
                    <a:pt x="137160" y="0"/>
                    <a:pt x="176784" y="39624"/>
                    <a:pt x="176784" y="88392"/>
                  </a:cubicBezTo>
                  <a:cubicBezTo>
                    <a:pt x="176784" y="137160"/>
                    <a:pt x="137160" y="176784"/>
                    <a:pt x="88392" y="176784"/>
                  </a:cubicBezTo>
                  <a:cubicBezTo>
                    <a:pt x="39624" y="176784"/>
                    <a:pt x="0" y="137287"/>
                    <a:pt x="0" y="88392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71305" y="3635873"/>
            <a:ext cx="4036666" cy="37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Crossbar concept validation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10841" y="4610319"/>
            <a:ext cx="132607" cy="132607"/>
            <a:chOff x="0" y="0"/>
            <a:chExt cx="176809" cy="1768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6784" cy="176784"/>
            </a:xfrm>
            <a:custGeom>
              <a:avLst/>
              <a:gdLst/>
              <a:ahLst/>
              <a:cxnLst/>
              <a:rect r="r" b="b" t="t" l="l"/>
              <a:pathLst>
                <a:path h="176784" w="176784">
                  <a:moveTo>
                    <a:pt x="0" y="88392"/>
                  </a:moveTo>
                  <a:cubicBezTo>
                    <a:pt x="0" y="39624"/>
                    <a:pt x="39624" y="0"/>
                    <a:pt x="88392" y="0"/>
                  </a:cubicBezTo>
                  <a:cubicBezTo>
                    <a:pt x="137160" y="0"/>
                    <a:pt x="176784" y="39624"/>
                    <a:pt x="176784" y="88392"/>
                  </a:cubicBezTo>
                  <a:cubicBezTo>
                    <a:pt x="176784" y="137160"/>
                    <a:pt x="137160" y="176784"/>
                    <a:pt x="88392" y="176784"/>
                  </a:cubicBezTo>
                  <a:cubicBezTo>
                    <a:pt x="39624" y="176784"/>
                    <a:pt x="0" y="137287"/>
                    <a:pt x="0" y="88392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71305" y="4459929"/>
            <a:ext cx="4977708" cy="37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SPICE-based modeling in progress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10841" y="5434384"/>
            <a:ext cx="132607" cy="132607"/>
            <a:chOff x="0" y="0"/>
            <a:chExt cx="176809" cy="1768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6784" cy="176784"/>
            </a:xfrm>
            <a:custGeom>
              <a:avLst/>
              <a:gdLst/>
              <a:ahLst/>
              <a:cxnLst/>
              <a:rect r="r" b="b" t="t" l="l"/>
              <a:pathLst>
                <a:path h="176784" w="176784">
                  <a:moveTo>
                    <a:pt x="0" y="88392"/>
                  </a:moveTo>
                  <a:cubicBezTo>
                    <a:pt x="0" y="39624"/>
                    <a:pt x="39624" y="0"/>
                    <a:pt x="88392" y="0"/>
                  </a:cubicBezTo>
                  <a:cubicBezTo>
                    <a:pt x="137160" y="0"/>
                    <a:pt x="176784" y="39624"/>
                    <a:pt x="176784" y="88392"/>
                  </a:cubicBezTo>
                  <a:cubicBezTo>
                    <a:pt x="176784" y="137160"/>
                    <a:pt x="137160" y="176784"/>
                    <a:pt x="88392" y="176784"/>
                  </a:cubicBezTo>
                  <a:cubicBezTo>
                    <a:pt x="39624" y="176784"/>
                    <a:pt x="0" y="137287"/>
                    <a:pt x="0" y="88392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371305" y="5283994"/>
            <a:ext cx="3603127" cy="37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Feasibility demonstration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10841" y="6258449"/>
            <a:ext cx="132607" cy="132607"/>
            <a:chOff x="0" y="0"/>
            <a:chExt cx="176809" cy="1768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6784" cy="176784"/>
            </a:xfrm>
            <a:custGeom>
              <a:avLst/>
              <a:gdLst/>
              <a:ahLst/>
              <a:cxnLst/>
              <a:rect r="r" b="b" t="t" l="l"/>
              <a:pathLst>
                <a:path h="176784" w="176784">
                  <a:moveTo>
                    <a:pt x="0" y="88392"/>
                  </a:moveTo>
                  <a:cubicBezTo>
                    <a:pt x="0" y="39624"/>
                    <a:pt x="39624" y="0"/>
                    <a:pt x="88392" y="0"/>
                  </a:cubicBezTo>
                  <a:cubicBezTo>
                    <a:pt x="137160" y="0"/>
                    <a:pt x="176784" y="39624"/>
                    <a:pt x="176784" y="88392"/>
                  </a:cubicBezTo>
                  <a:cubicBezTo>
                    <a:pt x="176784" y="137160"/>
                    <a:pt x="137160" y="176784"/>
                    <a:pt x="88392" y="176784"/>
                  </a:cubicBezTo>
                  <a:cubicBezTo>
                    <a:pt x="39624" y="176784"/>
                    <a:pt x="0" y="137287"/>
                    <a:pt x="0" y="88392"/>
                  </a:cubicBezTo>
                  <a:close/>
                </a:path>
              </a:pathLst>
            </a:custGeom>
            <a:solidFill>
              <a:srgbClr val="A95B95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371305" y="6108059"/>
            <a:ext cx="3720856" cy="37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Energy efficiency analysis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77080" y="2103987"/>
            <a:ext cx="3536156" cy="461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6BFEE"/>
                </a:solidFill>
                <a:latin typeface="Prompt Medium"/>
                <a:ea typeface="Prompt Medium"/>
                <a:cs typeface="Prompt Medium"/>
                <a:sym typeface="Prompt Medium"/>
              </a:rPr>
              <a:t>Future Work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472317" y="2816571"/>
            <a:ext cx="274739" cy="1600791"/>
            <a:chOff x="0" y="0"/>
            <a:chExt cx="366319" cy="213438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6350"/>
              <a:ext cx="353441" cy="2121662"/>
            </a:xfrm>
            <a:custGeom>
              <a:avLst/>
              <a:gdLst/>
              <a:ahLst/>
              <a:cxnLst/>
              <a:rect r="r" b="b" t="t" l="l"/>
              <a:pathLst>
                <a:path h="2121662" w="353441">
                  <a:moveTo>
                    <a:pt x="0" y="152908"/>
                  </a:moveTo>
                  <a:cubicBezTo>
                    <a:pt x="0" y="68453"/>
                    <a:pt x="66548" y="0"/>
                    <a:pt x="148463" y="0"/>
                  </a:cubicBezTo>
                  <a:lnTo>
                    <a:pt x="204978" y="0"/>
                  </a:lnTo>
                  <a:cubicBezTo>
                    <a:pt x="287020" y="0"/>
                    <a:pt x="353441" y="68453"/>
                    <a:pt x="353441" y="152908"/>
                  </a:cubicBezTo>
                  <a:lnTo>
                    <a:pt x="353441" y="1968754"/>
                  </a:lnTo>
                  <a:cubicBezTo>
                    <a:pt x="353441" y="2053209"/>
                    <a:pt x="286893" y="2121662"/>
                    <a:pt x="204978" y="2121662"/>
                  </a:cubicBezTo>
                  <a:lnTo>
                    <a:pt x="148463" y="2121662"/>
                  </a:lnTo>
                  <a:cubicBezTo>
                    <a:pt x="66548" y="2121662"/>
                    <a:pt x="0" y="2053209"/>
                    <a:pt x="0" y="1968754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6268" cy="2134362"/>
            </a:xfrm>
            <a:custGeom>
              <a:avLst/>
              <a:gdLst/>
              <a:ahLst/>
              <a:cxnLst/>
              <a:rect r="r" b="b" t="t" l="l"/>
              <a:pathLst>
                <a:path h="2134362" w="366268">
                  <a:moveTo>
                    <a:pt x="0" y="159258"/>
                  </a:moveTo>
                  <a:cubicBezTo>
                    <a:pt x="0" y="71501"/>
                    <a:pt x="69215" y="0"/>
                    <a:pt x="154813" y="0"/>
                  </a:cubicBezTo>
                  <a:lnTo>
                    <a:pt x="211328" y="0"/>
                  </a:lnTo>
                  <a:lnTo>
                    <a:pt x="211328" y="6350"/>
                  </a:lnTo>
                  <a:lnTo>
                    <a:pt x="211328" y="0"/>
                  </a:lnTo>
                  <a:lnTo>
                    <a:pt x="211328" y="6350"/>
                  </a:lnTo>
                  <a:lnTo>
                    <a:pt x="211328" y="0"/>
                  </a:lnTo>
                  <a:cubicBezTo>
                    <a:pt x="297180" y="0"/>
                    <a:pt x="366268" y="71501"/>
                    <a:pt x="366268" y="159258"/>
                  </a:cubicBezTo>
                  <a:lnTo>
                    <a:pt x="366268" y="1975104"/>
                  </a:lnTo>
                  <a:lnTo>
                    <a:pt x="359918" y="1975104"/>
                  </a:lnTo>
                  <a:lnTo>
                    <a:pt x="366268" y="1975104"/>
                  </a:lnTo>
                  <a:cubicBezTo>
                    <a:pt x="366268" y="2062861"/>
                    <a:pt x="297053" y="2134362"/>
                    <a:pt x="211455" y="2134362"/>
                  </a:cubicBezTo>
                  <a:lnTo>
                    <a:pt x="211455" y="2128012"/>
                  </a:lnTo>
                  <a:lnTo>
                    <a:pt x="211455" y="2134362"/>
                  </a:lnTo>
                  <a:lnTo>
                    <a:pt x="154813" y="2134362"/>
                  </a:lnTo>
                  <a:lnTo>
                    <a:pt x="154813" y="2128012"/>
                  </a:lnTo>
                  <a:lnTo>
                    <a:pt x="154813" y="2134362"/>
                  </a:lnTo>
                  <a:cubicBezTo>
                    <a:pt x="69215" y="2134362"/>
                    <a:pt x="0" y="2062861"/>
                    <a:pt x="0" y="1975104"/>
                  </a:cubicBezTo>
                  <a:lnTo>
                    <a:pt x="0" y="159258"/>
                  </a:lnTo>
                  <a:lnTo>
                    <a:pt x="6350" y="159258"/>
                  </a:lnTo>
                  <a:lnTo>
                    <a:pt x="0" y="159258"/>
                  </a:lnTo>
                  <a:moveTo>
                    <a:pt x="12700" y="159258"/>
                  </a:moveTo>
                  <a:lnTo>
                    <a:pt x="12700" y="1975104"/>
                  </a:lnTo>
                  <a:lnTo>
                    <a:pt x="6350" y="1975104"/>
                  </a:lnTo>
                  <a:lnTo>
                    <a:pt x="12700" y="1975104"/>
                  </a:lnTo>
                  <a:cubicBezTo>
                    <a:pt x="12700" y="2056257"/>
                    <a:pt x="76581" y="2121662"/>
                    <a:pt x="154813" y="2121662"/>
                  </a:cubicBezTo>
                  <a:lnTo>
                    <a:pt x="211328" y="2121662"/>
                  </a:lnTo>
                  <a:cubicBezTo>
                    <a:pt x="289687" y="2121662"/>
                    <a:pt x="353441" y="2056257"/>
                    <a:pt x="353441" y="1975104"/>
                  </a:cubicBezTo>
                  <a:lnTo>
                    <a:pt x="353441" y="159258"/>
                  </a:lnTo>
                  <a:lnTo>
                    <a:pt x="359791" y="159258"/>
                  </a:lnTo>
                  <a:lnTo>
                    <a:pt x="353441" y="159258"/>
                  </a:lnTo>
                  <a:cubicBezTo>
                    <a:pt x="353568" y="78105"/>
                    <a:pt x="289814" y="12700"/>
                    <a:pt x="211455" y="12700"/>
                  </a:cubicBezTo>
                  <a:lnTo>
                    <a:pt x="154813" y="12700"/>
                  </a:lnTo>
                  <a:lnTo>
                    <a:pt x="154813" y="6350"/>
                  </a:lnTo>
                  <a:lnTo>
                    <a:pt x="154813" y="12700"/>
                  </a:lnTo>
                  <a:cubicBezTo>
                    <a:pt x="76581" y="12700"/>
                    <a:pt x="12700" y="78105"/>
                    <a:pt x="12700" y="159258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970141" y="3077023"/>
            <a:ext cx="2946797" cy="37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Scale Array Size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70141" y="3625606"/>
            <a:ext cx="7316543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Increase crossbar dimensions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870129" y="4635703"/>
            <a:ext cx="274739" cy="1600791"/>
            <a:chOff x="0" y="0"/>
            <a:chExt cx="366319" cy="213438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6350" y="6350"/>
              <a:ext cx="353441" cy="2121662"/>
            </a:xfrm>
            <a:custGeom>
              <a:avLst/>
              <a:gdLst/>
              <a:ahLst/>
              <a:cxnLst/>
              <a:rect r="r" b="b" t="t" l="l"/>
              <a:pathLst>
                <a:path h="2121662" w="353441">
                  <a:moveTo>
                    <a:pt x="0" y="152908"/>
                  </a:moveTo>
                  <a:cubicBezTo>
                    <a:pt x="0" y="68453"/>
                    <a:pt x="66548" y="0"/>
                    <a:pt x="148463" y="0"/>
                  </a:cubicBezTo>
                  <a:lnTo>
                    <a:pt x="204978" y="0"/>
                  </a:lnTo>
                  <a:cubicBezTo>
                    <a:pt x="287020" y="0"/>
                    <a:pt x="353441" y="68453"/>
                    <a:pt x="353441" y="152908"/>
                  </a:cubicBezTo>
                  <a:lnTo>
                    <a:pt x="353441" y="1968754"/>
                  </a:lnTo>
                  <a:cubicBezTo>
                    <a:pt x="353441" y="2053209"/>
                    <a:pt x="286893" y="2121662"/>
                    <a:pt x="204978" y="2121662"/>
                  </a:cubicBezTo>
                  <a:lnTo>
                    <a:pt x="148463" y="2121662"/>
                  </a:lnTo>
                  <a:cubicBezTo>
                    <a:pt x="66548" y="2121662"/>
                    <a:pt x="0" y="2053209"/>
                    <a:pt x="0" y="1968754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6268" cy="2134362"/>
            </a:xfrm>
            <a:custGeom>
              <a:avLst/>
              <a:gdLst/>
              <a:ahLst/>
              <a:cxnLst/>
              <a:rect r="r" b="b" t="t" l="l"/>
              <a:pathLst>
                <a:path h="2134362" w="366268">
                  <a:moveTo>
                    <a:pt x="0" y="159258"/>
                  </a:moveTo>
                  <a:cubicBezTo>
                    <a:pt x="0" y="71501"/>
                    <a:pt x="69215" y="0"/>
                    <a:pt x="154813" y="0"/>
                  </a:cubicBezTo>
                  <a:lnTo>
                    <a:pt x="211328" y="0"/>
                  </a:lnTo>
                  <a:lnTo>
                    <a:pt x="211328" y="6350"/>
                  </a:lnTo>
                  <a:lnTo>
                    <a:pt x="211328" y="0"/>
                  </a:lnTo>
                  <a:lnTo>
                    <a:pt x="211328" y="6350"/>
                  </a:lnTo>
                  <a:lnTo>
                    <a:pt x="211328" y="0"/>
                  </a:lnTo>
                  <a:cubicBezTo>
                    <a:pt x="297180" y="0"/>
                    <a:pt x="366268" y="71501"/>
                    <a:pt x="366268" y="159258"/>
                  </a:cubicBezTo>
                  <a:lnTo>
                    <a:pt x="366268" y="1975104"/>
                  </a:lnTo>
                  <a:lnTo>
                    <a:pt x="359918" y="1975104"/>
                  </a:lnTo>
                  <a:lnTo>
                    <a:pt x="366268" y="1975104"/>
                  </a:lnTo>
                  <a:cubicBezTo>
                    <a:pt x="366268" y="2062861"/>
                    <a:pt x="297053" y="2134362"/>
                    <a:pt x="211455" y="2134362"/>
                  </a:cubicBezTo>
                  <a:lnTo>
                    <a:pt x="211455" y="2128012"/>
                  </a:lnTo>
                  <a:lnTo>
                    <a:pt x="211455" y="2134362"/>
                  </a:lnTo>
                  <a:lnTo>
                    <a:pt x="154813" y="2134362"/>
                  </a:lnTo>
                  <a:lnTo>
                    <a:pt x="154813" y="2128012"/>
                  </a:lnTo>
                  <a:lnTo>
                    <a:pt x="154813" y="2134362"/>
                  </a:lnTo>
                  <a:cubicBezTo>
                    <a:pt x="69215" y="2134362"/>
                    <a:pt x="0" y="2062861"/>
                    <a:pt x="0" y="1975104"/>
                  </a:cubicBezTo>
                  <a:lnTo>
                    <a:pt x="0" y="159258"/>
                  </a:lnTo>
                  <a:lnTo>
                    <a:pt x="6350" y="159258"/>
                  </a:lnTo>
                  <a:lnTo>
                    <a:pt x="0" y="159258"/>
                  </a:lnTo>
                  <a:moveTo>
                    <a:pt x="12700" y="159258"/>
                  </a:moveTo>
                  <a:lnTo>
                    <a:pt x="12700" y="1975104"/>
                  </a:lnTo>
                  <a:lnTo>
                    <a:pt x="6350" y="1975104"/>
                  </a:lnTo>
                  <a:lnTo>
                    <a:pt x="12700" y="1975104"/>
                  </a:lnTo>
                  <a:cubicBezTo>
                    <a:pt x="12700" y="2056257"/>
                    <a:pt x="76581" y="2121662"/>
                    <a:pt x="154813" y="2121662"/>
                  </a:cubicBezTo>
                  <a:lnTo>
                    <a:pt x="211328" y="2121662"/>
                  </a:lnTo>
                  <a:cubicBezTo>
                    <a:pt x="289687" y="2121662"/>
                    <a:pt x="353441" y="2056257"/>
                    <a:pt x="353441" y="1975104"/>
                  </a:cubicBezTo>
                  <a:lnTo>
                    <a:pt x="353441" y="159258"/>
                  </a:lnTo>
                  <a:lnTo>
                    <a:pt x="359791" y="159258"/>
                  </a:lnTo>
                  <a:lnTo>
                    <a:pt x="353441" y="159258"/>
                  </a:lnTo>
                  <a:cubicBezTo>
                    <a:pt x="353568" y="78105"/>
                    <a:pt x="289814" y="12700"/>
                    <a:pt x="211455" y="12700"/>
                  </a:cubicBezTo>
                  <a:lnTo>
                    <a:pt x="154813" y="12700"/>
                  </a:lnTo>
                  <a:lnTo>
                    <a:pt x="154813" y="6350"/>
                  </a:lnTo>
                  <a:lnTo>
                    <a:pt x="154813" y="12700"/>
                  </a:lnTo>
                  <a:cubicBezTo>
                    <a:pt x="76581" y="12700"/>
                    <a:pt x="12700" y="78105"/>
                    <a:pt x="12700" y="159258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0367962" y="4896145"/>
            <a:ext cx="2946797" cy="37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Improve Accuracy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67962" y="5444728"/>
            <a:ext cx="6918722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Optimize analog circuit design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267950" y="6454826"/>
            <a:ext cx="274739" cy="1600791"/>
            <a:chOff x="0" y="0"/>
            <a:chExt cx="366319" cy="213438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6350" y="6350"/>
              <a:ext cx="353441" cy="2121662"/>
            </a:xfrm>
            <a:custGeom>
              <a:avLst/>
              <a:gdLst/>
              <a:ahLst/>
              <a:cxnLst/>
              <a:rect r="r" b="b" t="t" l="l"/>
              <a:pathLst>
                <a:path h="2121662" w="353441">
                  <a:moveTo>
                    <a:pt x="0" y="152908"/>
                  </a:moveTo>
                  <a:cubicBezTo>
                    <a:pt x="0" y="68453"/>
                    <a:pt x="66548" y="0"/>
                    <a:pt x="148463" y="0"/>
                  </a:cubicBezTo>
                  <a:lnTo>
                    <a:pt x="204978" y="0"/>
                  </a:lnTo>
                  <a:cubicBezTo>
                    <a:pt x="287020" y="0"/>
                    <a:pt x="353441" y="68453"/>
                    <a:pt x="353441" y="152908"/>
                  </a:cubicBezTo>
                  <a:lnTo>
                    <a:pt x="353441" y="1968754"/>
                  </a:lnTo>
                  <a:cubicBezTo>
                    <a:pt x="353441" y="2053209"/>
                    <a:pt x="286893" y="2121662"/>
                    <a:pt x="204978" y="2121662"/>
                  </a:cubicBezTo>
                  <a:lnTo>
                    <a:pt x="148463" y="2121662"/>
                  </a:lnTo>
                  <a:cubicBezTo>
                    <a:pt x="66548" y="2121662"/>
                    <a:pt x="0" y="2053209"/>
                    <a:pt x="0" y="1968754"/>
                  </a:cubicBezTo>
                  <a:close/>
                </a:path>
              </a:pathLst>
            </a:custGeom>
            <a:solidFill>
              <a:srgbClr val="542C49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66268" cy="2134362"/>
            </a:xfrm>
            <a:custGeom>
              <a:avLst/>
              <a:gdLst/>
              <a:ahLst/>
              <a:cxnLst/>
              <a:rect r="r" b="b" t="t" l="l"/>
              <a:pathLst>
                <a:path h="2134362" w="366268">
                  <a:moveTo>
                    <a:pt x="0" y="159258"/>
                  </a:moveTo>
                  <a:cubicBezTo>
                    <a:pt x="0" y="71501"/>
                    <a:pt x="69215" y="0"/>
                    <a:pt x="154813" y="0"/>
                  </a:cubicBezTo>
                  <a:lnTo>
                    <a:pt x="211328" y="0"/>
                  </a:lnTo>
                  <a:lnTo>
                    <a:pt x="211328" y="6350"/>
                  </a:lnTo>
                  <a:lnTo>
                    <a:pt x="211328" y="0"/>
                  </a:lnTo>
                  <a:lnTo>
                    <a:pt x="211328" y="6350"/>
                  </a:lnTo>
                  <a:lnTo>
                    <a:pt x="211328" y="0"/>
                  </a:lnTo>
                  <a:cubicBezTo>
                    <a:pt x="297180" y="0"/>
                    <a:pt x="366268" y="71501"/>
                    <a:pt x="366268" y="159258"/>
                  </a:cubicBezTo>
                  <a:lnTo>
                    <a:pt x="366268" y="1975104"/>
                  </a:lnTo>
                  <a:lnTo>
                    <a:pt x="359918" y="1975104"/>
                  </a:lnTo>
                  <a:lnTo>
                    <a:pt x="366268" y="1975104"/>
                  </a:lnTo>
                  <a:cubicBezTo>
                    <a:pt x="366268" y="2062861"/>
                    <a:pt x="297053" y="2134362"/>
                    <a:pt x="211455" y="2134362"/>
                  </a:cubicBezTo>
                  <a:lnTo>
                    <a:pt x="211455" y="2128012"/>
                  </a:lnTo>
                  <a:lnTo>
                    <a:pt x="211455" y="2134362"/>
                  </a:lnTo>
                  <a:lnTo>
                    <a:pt x="154813" y="2134362"/>
                  </a:lnTo>
                  <a:lnTo>
                    <a:pt x="154813" y="2128012"/>
                  </a:lnTo>
                  <a:lnTo>
                    <a:pt x="154813" y="2134362"/>
                  </a:lnTo>
                  <a:cubicBezTo>
                    <a:pt x="69215" y="2134362"/>
                    <a:pt x="0" y="2062861"/>
                    <a:pt x="0" y="1975104"/>
                  </a:cubicBezTo>
                  <a:lnTo>
                    <a:pt x="0" y="159258"/>
                  </a:lnTo>
                  <a:lnTo>
                    <a:pt x="6350" y="159258"/>
                  </a:lnTo>
                  <a:lnTo>
                    <a:pt x="0" y="159258"/>
                  </a:lnTo>
                  <a:moveTo>
                    <a:pt x="12700" y="159258"/>
                  </a:moveTo>
                  <a:lnTo>
                    <a:pt x="12700" y="1975104"/>
                  </a:lnTo>
                  <a:lnTo>
                    <a:pt x="6350" y="1975104"/>
                  </a:lnTo>
                  <a:lnTo>
                    <a:pt x="12700" y="1975104"/>
                  </a:lnTo>
                  <a:cubicBezTo>
                    <a:pt x="12700" y="2056257"/>
                    <a:pt x="76581" y="2121662"/>
                    <a:pt x="154813" y="2121662"/>
                  </a:cubicBezTo>
                  <a:lnTo>
                    <a:pt x="211328" y="2121662"/>
                  </a:lnTo>
                  <a:cubicBezTo>
                    <a:pt x="289687" y="2121662"/>
                    <a:pt x="353441" y="2056257"/>
                    <a:pt x="353441" y="1975104"/>
                  </a:cubicBezTo>
                  <a:lnTo>
                    <a:pt x="353441" y="159258"/>
                  </a:lnTo>
                  <a:lnTo>
                    <a:pt x="359791" y="159258"/>
                  </a:lnTo>
                  <a:lnTo>
                    <a:pt x="353441" y="159258"/>
                  </a:lnTo>
                  <a:cubicBezTo>
                    <a:pt x="353568" y="78105"/>
                    <a:pt x="289814" y="12700"/>
                    <a:pt x="211455" y="12700"/>
                  </a:cubicBezTo>
                  <a:lnTo>
                    <a:pt x="154813" y="12700"/>
                  </a:lnTo>
                  <a:lnTo>
                    <a:pt x="154813" y="6350"/>
                  </a:lnTo>
                  <a:lnTo>
                    <a:pt x="154813" y="12700"/>
                  </a:lnTo>
                  <a:cubicBezTo>
                    <a:pt x="76581" y="12700"/>
                    <a:pt x="12700" y="78105"/>
                    <a:pt x="12700" y="159258"/>
                  </a:cubicBezTo>
                  <a:close/>
                </a:path>
              </a:pathLst>
            </a:custGeom>
            <a:solidFill>
              <a:srgbClr val="6D4562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0765784" y="6715277"/>
            <a:ext cx="3049038" cy="37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DAD8E9"/>
                </a:solidFill>
                <a:latin typeface="Prompt Medium"/>
                <a:ea typeface="Prompt Medium"/>
                <a:cs typeface="Prompt Medium"/>
                <a:sym typeface="Prompt Medium"/>
              </a:rPr>
              <a:t>Hardware Integration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765784" y="7263851"/>
            <a:ext cx="6520901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Full system implementation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08662" y="8762552"/>
            <a:ext cx="15868498" cy="451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062">
                <a:solidFill>
                  <a:srgbClr val="DAD8E9"/>
                </a:solidFill>
                <a:latin typeface="Mukta Light"/>
                <a:ea typeface="Mukta Light"/>
                <a:cs typeface="Mukta Light"/>
                <a:sym typeface="Mukta Light"/>
              </a:rPr>
              <a:t>This project explores a hardware-level solution to modern computing limitations.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010841" y="8563423"/>
            <a:ext cx="28575" cy="906961"/>
            <a:chOff x="0" y="0"/>
            <a:chExt cx="38100" cy="120928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8100" cy="1209294"/>
            </a:xfrm>
            <a:custGeom>
              <a:avLst/>
              <a:gdLst/>
              <a:ahLst/>
              <a:cxnLst/>
              <a:rect r="r" b="b" t="t" l="l"/>
              <a:pathLst>
                <a:path h="1209294" w="38100">
                  <a:moveTo>
                    <a:pt x="0" y="0"/>
                  </a:moveTo>
                  <a:lnTo>
                    <a:pt x="38100" y="0"/>
                  </a:lnTo>
                  <a:lnTo>
                    <a:pt x="38100" y="1209294"/>
                  </a:lnTo>
                  <a:lnTo>
                    <a:pt x="0" y="1209294"/>
                  </a:lnTo>
                  <a:close/>
                </a:path>
              </a:pathLst>
            </a:custGeom>
            <a:solidFill>
              <a:srgbClr val="A95B95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DAHHGiKzwoE</dc:identifier>
  <dcterms:modified xsi:type="dcterms:W3CDTF">2011-08-01T06:04:30Z</dcterms:modified>
  <cp:revision>1</cp:revision>
</cp:coreProperties>
</file>